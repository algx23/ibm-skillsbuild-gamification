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 id="2147483648" r:id="rId2"/>
  </p:sldMasterIdLst>
  <p:notesMasterIdLst>
    <p:notesMasterId r:id="rId30"/>
  </p:notesMasterIdLst>
  <p:sldIdLst>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84" r:id="rId25"/>
    <p:sldId id="280" r:id="rId26"/>
    <p:sldId id="281" r:id="rId27"/>
    <p:sldId id="282" r:id="rId28"/>
    <p:sldId id="28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8668" autoAdjust="0"/>
    <p:restoredTop sz="94652"/>
  </p:normalViewPr>
  <p:slideViewPr>
    <p:cSldViewPr snapToGrid="0">
      <p:cViewPr varScale="1">
        <p:scale>
          <a:sx n="208" d="100"/>
          <a:sy n="208" d="100"/>
        </p:scale>
        <p:origin x="1328"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34" Type="http://schemas.openxmlformats.org/officeDocument/2006/relationships/tableStyles" Target="tableStyle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viewProps" Target="view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notesMaster" Target="notesMasters/notesMaster1.xml"/><Relationship Id="rId8" Type="http://schemas.openxmlformats.org/officeDocument/2006/relationships/slide" Target="slides/slide6.xml"/></Relationships>
</file>

<file path=ppt/diagrams/_rels/data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_rels/drawing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svg"/><Relationship Id="rId1" Type="http://schemas.openxmlformats.org/officeDocument/2006/relationships/image" Target="../media/image18.png"/><Relationship Id="rId6" Type="http://schemas.openxmlformats.org/officeDocument/2006/relationships/image" Target="../media/image23.svg"/><Relationship Id="rId5" Type="http://schemas.openxmlformats.org/officeDocument/2006/relationships/image" Target="../media/image22.png"/><Relationship Id="rId4" Type="http://schemas.openxmlformats.org/officeDocument/2006/relationships/image" Target="../media/image21.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icon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E04EF79-B4F4-4345-A45F-9920AB3AD884}" type="doc">
      <dgm:prSet loTypeId="urn:microsoft.com/office/officeart/2005/8/layout/list1" loCatId="list" qsTypeId="urn:microsoft.com/office/officeart/2005/8/quickstyle/simple1" qsCatId="simple" csTypeId="urn:microsoft.com/office/officeart/2005/8/colors/accent1_2" csCatId="accent1"/>
      <dgm:spPr/>
      <dgm:t>
        <a:bodyPr/>
        <a:lstStyle/>
        <a:p>
          <a:endParaRPr lang="en-US"/>
        </a:p>
      </dgm:t>
    </dgm:pt>
    <dgm:pt modelId="{4F2B9488-1AA5-46B0-AE44-C8C27193A43E}">
      <dgm:prSet/>
      <dgm:spPr/>
      <dgm:t>
        <a:bodyPr/>
        <a:lstStyle/>
        <a:p>
          <a:r>
            <a:rPr lang="en-US"/>
            <a:t>Three questions to answer:</a:t>
          </a:r>
        </a:p>
      </dgm:t>
    </dgm:pt>
    <dgm:pt modelId="{C1CA42A8-F3ED-4B19-9DF4-6274CD1E5014}" type="parTrans" cxnId="{FD599863-A257-4D58-893C-0C907FBB5204}">
      <dgm:prSet/>
      <dgm:spPr/>
      <dgm:t>
        <a:bodyPr/>
        <a:lstStyle/>
        <a:p>
          <a:endParaRPr lang="en-US"/>
        </a:p>
      </dgm:t>
    </dgm:pt>
    <dgm:pt modelId="{3F8504BF-E70B-4191-8E19-44B843934A6F}" type="sibTrans" cxnId="{FD599863-A257-4D58-893C-0C907FBB5204}">
      <dgm:prSet/>
      <dgm:spPr/>
      <dgm:t>
        <a:bodyPr/>
        <a:lstStyle/>
        <a:p>
          <a:endParaRPr lang="en-US"/>
        </a:p>
      </dgm:t>
    </dgm:pt>
    <dgm:pt modelId="{FFFEE5A7-F8D4-4A16-8787-53287D33D266}">
      <dgm:prSet/>
      <dgm:spPr/>
      <dgm:t>
        <a:bodyPr/>
        <a:lstStyle/>
        <a:p>
          <a:r>
            <a:rPr lang="en-US"/>
            <a:t>What have you been working on?</a:t>
          </a:r>
        </a:p>
      </dgm:t>
    </dgm:pt>
    <dgm:pt modelId="{A1824523-C439-41FB-AABB-5FD1DF8B7D31}" type="parTrans" cxnId="{4C442D74-F083-4232-AC92-D2D987EF4CEA}">
      <dgm:prSet/>
      <dgm:spPr/>
      <dgm:t>
        <a:bodyPr/>
        <a:lstStyle/>
        <a:p>
          <a:endParaRPr lang="en-US"/>
        </a:p>
      </dgm:t>
    </dgm:pt>
    <dgm:pt modelId="{A32C8A69-63F2-45C6-849E-7F77A4DEC4CE}" type="sibTrans" cxnId="{4C442D74-F083-4232-AC92-D2D987EF4CEA}">
      <dgm:prSet/>
      <dgm:spPr/>
      <dgm:t>
        <a:bodyPr/>
        <a:lstStyle/>
        <a:p>
          <a:endParaRPr lang="en-US"/>
        </a:p>
      </dgm:t>
    </dgm:pt>
    <dgm:pt modelId="{B858312F-0BBE-4624-952D-71B9E245F45B}">
      <dgm:prSet/>
      <dgm:spPr/>
      <dgm:t>
        <a:bodyPr/>
        <a:lstStyle/>
        <a:p>
          <a:r>
            <a:rPr lang="en-US"/>
            <a:t>What is blocking you right now?</a:t>
          </a:r>
        </a:p>
      </dgm:t>
    </dgm:pt>
    <dgm:pt modelId="{15A27352-BA34-4E5B-ADCC-ECAD9A3A9B6E}" type="parTrans" cxnId="{194BC890-1992-410A-9C68-4A148C66711C}">
      <dgm:prSet/>
      <dgm:spPr/>
      <dgm:t>
        <a:bodyPr/>
        <a:lstStyle/>
        <a:p>
          <a:endParaRPr lang="en-US"/>
        </a:p>
      </dgm:t>
    </dgm:pt>
    <dgm:pt modelId="{B5F541EC-A61C-471D-8310-919CCD34386C}" type="sibTrans" cxnId="{194BC890-1992-410A-9C68-4A148C66711C}">
      <dgm:prSet/>
      <dgm:spPr/>
      <dgm:t>
        <a:bodyPr/>
        <a:lstStyle/>
        <a:p>
          <a:endParaRPr lang="en-US"/>
        </a:p>
      </dgm:t>
    </dgm:pt>
    <dgm:pt modelId="{994667D3-F6B1-409A-A7A8-F72B3D1ECC62}">
      <dgm:prSet/>
      <dgm:spPr/>
      <dgm:t>
        <a:bodyPr/>
        <a:lstStyle/>
        <a:p>
          <a:r>
            <a:rPr lang="en-US"/>
            <a:t>What are you going to be working on?</a:t>
          </a:r>
        </a:p>
      </dgm:t>
    </dgm:pt>
    <dgm:pt modelId="{B4D5A6AE-09DF-4A3A-89F7-BE8F1BFF440F}" type="parTrans" cxnId="{78353E62-2935-457C-95A4-4D842F2624DB}">
      <dgm:prSet/>
      <dgm:spPr/>
      <dgm:t>
        <a:bodyPr/>
        <a:lstStyle/>
        <a:p>
          <a:endParaRPr lang="en-US"/>
        </a:p>
      </dgm:t>
    </dgm:pt>
    <dgm:pt modelId="{313644FC-8C76-49F2-931D-0F0AD92E1B5D}" type="sibTrans" cxnId="{78353E62-2935-457C-95A4-4D842F2624DB}">
      <dgm:prSet/>
      <dgm:spPr/>
      <dgm:t>
        <a:bodyPr/>
        <a:lstStyle/>
        <a:p>
          <a:endParaRPr lang="en-US"/>
        </a:p>
      </dgm:t>
    </dgm:pt>
    <dgm:pt modelId="{37668E5C-0E9C-C843-9904-A364F1D689DF}" type="pres">
      <dgm:prSet presAssocID="{8E04EF79-B4F4-4345-A45F-9920AB3AD884}" presName="linear" presStyleCnt="0">
        <dgm:presLayoutVars>
          <dgm:dir/>
          <dgm:animLvl val="lvl"/>
          <dgm:resizeHandles val="exact"/>
        </dgm:presLayoutVars>
      </dgm:prSet>
      <dgm:spPr/>
    </dgm:pt>
    <dgm:pt modelId="{CD8330D0-B1F6-A34D-90D0-BAB2CA69691C}" type="pres">
      <dgm:prSet presAssocID="{4F2B9488-1AA5-46B0-AE44-C8C27193A43E}" presName="parentLin" presStyleCnt="0"/>
      <dgm:spPr/>
    </dgm:pt>
    <dgm:pt modelId="{29EF86FB-1C41-EA49-8795-7BD7552DDF27}" type="pres">
      <dgm:prSet presAssocID="{4F2B9488-1AA5-46B0-AE44-C8C27193A43E}" presName="parentLeftMargin" presStyleLbl="node1" presStyleIdx="0" presStyleCnt="1"/>
      <dgm:spPr/>
    </dgm:pt>
    <dgm:pt modelId="{180D6D06-88AD-E44C-A6C5-A5AE964A7E8E}" type="pres">
      <dgm:prSet presAssocID="{4F2B9488-1AA5-46B0-AE44-C8C27193A43E}" presName="parentText" presStyleLbl="node1" presStyleIdx="0" presStyleCnt="1">
        <dgm:presLayoutVars>
          <dgm:chMax val="0"/>
          <dgm:bulletEnabled val="1"/>
        </dgm:presLayoutVars>
      </dgm:prSet>
      <dgm:spPr/>
    </dgm:pt>
    <dgm:pt modelId="{D8E649D6-AC35-FE4F-B527-E78DBC3FA65C}" type="pres">
      <dgm:prSet presAssocID="{4F2B9488-1AA5-46B0-AE44-C8C27193A43E}" presName="negativeSpace" presStyleCnt="0"/>
      <dgm:spPr/>
    </dgm:pt>
    <dgm:pt modelId="{94DDB111-0E8C-2F4D-A44C-BC8CC4F5F4DB}" type="pres">
      <dgm:prSet presAssocID="{4F2B9488-1AA5-46B0-AE44-C8C27193A43E}" presName="childText" presStyleLbl="conFgAcc1" presStyleIdx="0" presStyleCnt="1">
        <dgm:presLayoutVars>
          <dgm:bulletEnabled val="1"/>
        </dgm:presLayoutVars>
      </dgm:prSet>
      <dgm:spPr/>
    </dgm:pt>
  </dgm:ptLst>
  <dgm:cxnLst>
    <dgm:cxn modelId="{5E07A23A-5B06-714D-BD01-EE434080CD79}" type="presOf" srcId="{4F2B9488-1AA5-46B0-AE44-C8C27193A43E}" destId="{29EF86FB-1C41-EA49-8795-7BD7552DDF27}" srcOrd="0" destOrd="0" presId="urn:microsoft.com/office/officeart/2005/8/layout/list1"/>
    <dgm:cxn modelId="{AF7AD852-92FB-3540-A835-499EFB7944D9}" type="presOf" srcId="{4F2B9488-1AA5-46B0-AE44-C8C27193A43E}" destId="{180D6D06-88AD-E44C-A6C5-A5AE964A7E8E}" srcOrd="1" destOrd="0" presId="urn:microsoft.com/office/officeart/2005/8/layout/list1"/>
    <dgm:cxn modelId="{78353E62-2935-457C-95A4-4D842F2624DB}" srcId="{4F2B9488-1AA5-46B0-AE44-C8C27193A43E}" destId="{994667D3-F6B1-409A-A7A8-F72B3D1ECC62}" srcOrd="2" destOrd="0" parTransId="{B4D5A6AE-09DF-4A3A-89F7-BE8F1BFF440F}" sibTransId="{313644FC-8C76-49F2-931D-0F0AD92E1B5D}"/>
    <dgm:cxn modelId="{FD599863-A257-4D58-893C-0C907FBB5204}" srcId="{8E04EF79-B4F4-4345-A45F-9920AB3AD884}" destId="{4F2B9488-1AA5-46B0-AE44-C8C27193A43E}" srcOrd="0" destOrd="0" parTransId="{C1CA42A8-F3ED-4B19-9DF4-6274CD1E5014}" sibTransId="{3F8504BF-E70B-4191-8E19-44B843934A6F}"/>
    <dgm:cxn modelId="{4C442D74-F083-4232-AC92-D2D987EF4CEA}" srcId="{4F2B9488-1AA5-46B0-AE44-C8C27193A43E}" destId="{FFFEE5A7-F8D4-4A16-8787-53287D33D266}" srcOrd="0" destOrd="0" parTransId="{A1824523-C439-41FB-AABB-5FD1DF8B7D31}" sibTransId="{A32C8A69-63F2-45C6-849E-7F77A4DEC4CE}"/>
    <dgm:cxn modelId="{7E23A37C-ED76-B446-AFDC-F5E7E428A667}" type="presOf" srcId="{B858312F-0BBE-4624-952D-71B9E245F45B}" destId="{94DDB111-0E8C-2F4D-A44C-BC8CC4F5F4DB}" srcOrd="0" destOrd="1" presId="urn:microsoft.com/office/officeart/2005/8/layout/list1"/>
    <dgm:cxn modelId="{5909728B-BEA7-F64B-A267-97863860B0EA}" type="presOf" srcId="{8E04EF79-B4F4-4345-A45F-9920AB3AD884}" destId="{37668E5C-0E9C-C843-9904-A364F1D689DF}" srcOrd="0" destOrd="0" presId="urn:microsoft.com/office/officeart/2005/8/layout/list1"/>
    <dgm:cxn modelId="{194BC890-1992-410A-9C68-4A148C66711C}" srcId="{4F2B9488-1AA5-46B0-AE44-C8C27193A43E}" destId="{B858312F-0BBE-4624-952D-71B9E245F45B}" srcOrd="1" destOrd="0" parTransId="{15A27352-BA34-4E5B-ADCC-ECAD9A3A9B6E}" sibTransId="{B5F541EC-A61C-471D-8310-919CCD34386C}"/>
    <dgm:cxn modelId="{90230CDD-0F37-4142-A956-3319BBC96819}" type="presOf" srcId="{994667D3-F6B1-409A-A7A8-F72B3D1ECC62}" destId="{94DDB111-0E8C-2F4D-A44C-BC8CC4F5F4DB}" srcOrd="0" destOrd="2" presId="urn:microsoft.com/office/officeart/2005/8/layout/list1"/>
    <dgm:cxn modelId="{D8BA8DFC-555B-8B43-AC78-E3E21E1D844A}" type="presOf" srcId="{FFFEE5A7-F8D4-4A16-8787-53287D33D266}" destId="{94DDB111-0E8C-2F4D-A44C-BC8CC4F5F4DB}" srcOrd="0" destOrd="0" presId="urn:microsoft.com/office/officeart/2005/8/layout/list1"/>
    <dgm:cxn modelId="{0C752051-73E3-2142-89B2-281CD2F7E83D}" type="presParOf" srcId="{37668E5C-0E9C-C843-9904-A364F1D689DF}" destId="{CD8330D0-B1F6-A34D-90D0-BAB2CA69691C}" srcOrd="0" destOrd="0" presId="urn:microsoft.com/office/officeart/2005/8/layout/list1"/>
    <dgm:cxn modelId="{7709DAEF-51FD-B24F-8504-76187B773B2C}" type="presParOf" srcId="{CD8330D0-B1F6-A34D-90D0-BAB2CA69691C}" destId="{29EF86FB-1C41-EA49-8795-7BD7552DDF27}" srcOrd="0" destOrd="0" presId="urn:microsoft.com/office/officeart/2005/8/layout/list1"/>
    <dgm:cxn modelId="{EA9CBE43-BAAD-E748-8FA0-41F6FD691F2E}" type="presParOf" srcId="{CD8330D0-B1F6-A34D-90D0-BAB2CA69691C}" destId="{180D6D06-88AD-E44C-A6C5-A5AE964A7E8E}" srcOrd="1" destOrd="0" presId="urn:microsoft.com/office/officeart/2005/8/layout/list1"/>
    <dgm:cxn modelId="{3ABC25F9-8834-484B-AB1E-676A761CBA5F}" type="presParOf" srcId="{37668E5C-0E9C-C843-9904-A364F1D689DF}" destId="{D8E649D6-AC35-FE4F-B527-E78DBC3FA65C}" srcOrd="1" destOrd="0" presId="urn:microsoft.com/office/officeart/2005/8/layout/list1"/>
    <dgm:cxn modelId="{828CB800-537D-234F-860D-1E647FB1F3D7}" type="presParOf" srcId="{37668E5C-0E9C-C843-9904-A364F1D689DF}" destId="{94DDB111-0E8C-2F4D-A44C-BC8CC4F5F4DB}" srcOrd="2" destOrd="0" presId="urn:microsoft.com/office/officeart/2005/8/layout/list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5EA15861-7598-4260-9CEB-D9381E6C05B0}" type="doc">
      <dgm:prSet loTypeId="urn:microsoft.com/office/officeart/2018/5/layout/IconCircleLabelList" loCatId="icon" qsTypeId="urn:microsoft.com/office/officeart/2005/8/quickstyle/simple1" qsCatId="simple" csTypeId="urn:microsoft.com/office/officeart/2018/5/colors/Iconchunking_neutralicon_colorful1" csCatId="colorful" phldr="1"/>
      <dgm:spPr/>
      <dgm:t>
        <a:bodyPr/>
        <a:lstStyle/>
        <a:p>
          <a:endParaRPr lang="en-US"/>
        </a:p>
      </dgm:t>
    </dgm:pt>
    <dgm:pt modelId="{D1799E32-AE53-4A7E-9BFB-0C4A1183C23A}">
      <dgm:prSet/>
      <dgm:spPr/>
      <dgm:t>
        <a:bodyPr/>
        <a:lstStyle/>
        <a:p>
          <a:pPr>
            <a:lnSpc>
              <a:spcPct val="100000"/>
            </a:lnSpc>
            <a:defRPr cap="all"/>
          </a:pPr>
          <a:r>
            <a:rPr lang="en-US" dirty="0"/>
            <a:t>team members were kept accountable.</a:t>
          </a:r>
        </a:p>
      </dgm:t>
    </dgm:pt>
    <dgm:pt modelId="{8E260A81-AA3D-4181-BD0F-85619E2D9E26}" type="parTrans" cxnId="{E5C91995-BB9B-4AB5-9430-A81B77D726FC}">
      <dgm:prSet/>
      <dgm:spPr/>
      <dgm:t>
        <a:bodyPr/>
        <a:lstStyle/>
        <a:p>
          <a:endParaRPr lang="en-US"/>
        </a:p>
      </dgm:t>
    </dgm:pt>
    <dgm:pt modelId="{C57230FE-D53C-4017-9FFF-C3141097313C}" type="sibTrans" cxnId="{E5C91995-BB9B-4AB5-9430-A81B77D726FC}">
      <dgm:prSet/>
      <dgm:spPr/>
      <dgm:t>
        <a:bodyPr/>
        <a:lstStyle/>
        <a:p>
          <a:endParaRPr lang="en-US"/>
        </a:p>
      </dgm:t>
    </dgm:pt>
    <dgm:pt modelId="{23D6CA64-40D7-4CF0-BC4F-439281ECE729}">
      <dgm:prSet/>
      <dgm:spPr/>
      <dgm:t>
        <a:bodyPr/>
        <a:lstStyle/>
        <a:p>
          <a:pPr>
            <a:lnSpc>
              <a:spcPct val="100000"/>
            </a:lnSpc>
            <a:defRPr cap="all"/>
          </a:pPr>
          <a:r>
            <a:rPr lang="en-US" dirty="0"/>
            <a:t>workload was consistent.</a:t>
          </a:r>
        </a:p>
      </dgm:t>
    </dgm:pt>
    <dgm:pt modelId="{8411A7F4-B6A2-4802-8245-6B9AA1D262AA}" type="parTrans" cxnId="{1FC2C38C-72BB-4586-860F-C851EA92196B}">
      <dgm:prSet/>
      <dgm:spPr/>
      <dgm:t>
        <a:bodyPr/>
        <a:lstStyle/>
        <a:p>
          <a:endParaRPr lang="en-US"/>
        </a:p>
      </dgm:t>
    </dgm:pt>
    <dgm:pt modelId="{51DC0B9C-9E12-4393-B169-A969D50B8694}" type="sibTrans" cxnId="{1FC2C38C-72BB-4586-860F-C851EA92196B}">
      <dgm:prSet/>
      <dgm:spPr/>
      <dgm:t>
        <a:bodyPr/>
        <a:lstStyle/>
        <a:p>
          <a:endParaRPr lang="en-US"/>
        </a:p>
      </dgm:t>
    </dgm:pt>
    <dgm:pt modelId="{66CB6DDE-FB9F-41B2-98C5-0024EDF4D8B8}">
      <dgm:prSet/>
      <dgm:spPr/>
      <dgm:t>
        <a:bodyPr/>
        <a:lstStyle/>
        <a:p>
          <a:pPr>
            <a:lnSpc>
              <a:spcPct val="100000"/>
            </a:lnSpc>
            <a:defRPr cap="all"/>
          </a:pPr>
          <a:r>
            <a:rPr lang="en-US" dirty="0"/>
            <a:t>no user stories left in the backlog for either sprint.</a:t>
          </a:r>
        </a:p>
      </dgm:t>
    </dgm:pt>
    <dgm:pt modelId="{C1B601FB-DA0D-4879-9BBF-998593D7FE88}" type="parTrans" cxnId="{7F0258BD-D204-499F-9449-F731AA0CDEC4}">
      <dgm:prSet/>
      <dgm:spPr/>
      <dgm:t>
        <a:bodyPr/>
        <a:lstStyle/>
        <a:p>
          <a:endParaRPr lang="en-US"/>
        </a:p>
      </dgm:t>
    </dgm:pt>
    <dgm:pt modelId="{692DEB07-4366-4BCC-9FBA-1DF8E4420125}" type="sibTrans" cxnId="{7F0258BD-D204-499F-9449-F731AA0CDEC4}">
      <dgm:prSet/>
      <dgm:spPr/>
      <dgm:t>
        <a:bodyPr/>
        <a:lstStyle/>
        <a:p>
          <a:endParaRPr lang="en-US"/>
        </a:p>
      </dgm:t>
    </dgm:pt>
    <dgm:pt modelId="{EB0335F2-051F-4B28-84F7-5CDFA1E94085}" type="pres">
      <dgm:prSet presAssocID="{5EA15861-7598-4260-9CEB-D9381E6C05B0}" presName="root" presStyleCnt="0">
        <dgm:presLayoutVars>
          <dgm:dir/>
          <dgm:resizeHandles val="exact"/>
        </dgm:presLayoutVars>
      </dgm:prSet>
      <dgm:spPr/>
    </dgm:pt>
    <dgm:pt modelId="{DFD701A7-0DA9-4F1D-931D-7A30BD2143C7}" type="pres">
      <dgm:prSet presAssocID="{D1799E32-AE53-4A7E-9BFB-0C4A1183C23A}" presName="compNode" presStyleCnt="0"/>
      <dgm:spPr/>
    </dgm:pt>
    <dgm:pt modelId="{B660B732-9CC7-4BA2-B4AA-186D2B6282DF}" type="pres">
      <dgm:prSet presAssocID="{D1799E32-AE53-4A7E-9BFB-0C4A1183C23A}" presName="iconBgRect" presStyleLbl="bgShp" presStyleIdx="0" presStyleCnt="3"/>
      <dgm:spPr/>
    </dgm:pt>
    <dgm:pt modelId="{1EB11F85-7858-4724-9346-2E17B7CC5F13}" type="pres">
      <dgm:prSet presAssocID="{D1799E32-AE53-4A7E-9BFB-0C4A1183C23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Users"/>
        </a:ext>
      </dgm:extLst>
    </dgm:pt>
    <dgm:pt modelId="{B52AE9BE-6B5C-45F1-8D62-FCB81CA76923}" type="pres">
      <dgm:prSet presAssocID="{D1799E32-AE53-4A7E-9BFB-0C4A1183C23A}" presName="spaceRect" presStyleCnt="0"/>
      <dgm:spPr/>
    </dgm:pt>
    <dgm:pt modelId="{2B20FADB-3E60-409E-BFA6-CD406B3ADFE6}" type="pres">
      <dgm:prSet presAssocID="{D1799E32-AE53-4A7E-9BFB-0C4A1183C23A}" presName="textRect" presStyleLbl="revTx" presStyleIdx="0" presStyleCnt="3">
        <dgm:presLayoutVars>
          <dgm:chMax val="1"/>
          <dgm:chPref val="1"/>
        </dgm:presLayoutVars>
      </dgm:prSet>
      <dgm:spPr/>
    </dgm:pt>
    <dgm:pt modelId="{EBDE3C8B-5CED-4A85-A854-6AFE09BA52F9}" type="pres">
      <dgm:prSet presAssocID="{C57230FE-D53C-4017-9FFF-C3141097313C}" presName="sibTrans" presStyleCnt="0"/>
      <dgm:spPr/>
    </dgm:pt>
    <dgm:pt modelId="{B585632C-B536-41C4-8B6B-3FB39E05B742}" type="pres">
      <dgm:prSet presAssocID="{23D6CA64-40D7-4CF0-BC4F-439281ECE729}" presName="compNode" presStyleCnt="0"/>
      <dgm:spPr/>
    </dgm:pt>
    <dgm:pt modelId="{4AB6A9E6-859C-48F2-9B60-68EEFE51B1D5}" type="pres">
      <dgm:prSet presAssocID="{23D6CA64-40D7-4CF0-BC4F-439281ECE729}" presName="iconBgRect" presStyleLbl="bgShp" presStyleIdx="1" presStyleCnt="3"/>
      <dgm:spPr/>
    </dgm:pt>
    <dgm:pt modelId="{C48AF93A-B5B9-4065-9727-085CDAEB20BD}" type="pres">
      <dgm:prSet presAssocID="{23D6CA64-40D7-4CF0-BC4F-439281ECE72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Ribbon"/>
        </a:ext>
      </dgm:extLst>
    </dgm:pt>
    <dgm:pt modelId="{2C36D697-4C1F-4904-87C1-2A0BF4FF9FFD}" type="pres">
      <dgm:prSet presAssocID="{23D6CA64-40D7-4CF0-BC4F-439281ECE729}" presName="spaceRect" presStyleCnt="0"/>
      <dgm:spPr/>
    </dgm:pt>
    <dgm:pt modelId="{F57F4867-5796-4936-AD79-C90BCC16102E}" type="pres">
      <dgm:prSet presAssocID="{23D6CA64-40D7-4CF0-BC4F-439281ECE729}" presName="textRect" presStyleLbl="revTx" presStyleIdx="1" presStyleCnt="3">
        <dgm:presLayoutVars>
          <dgm:chMax val="1"/>
          <dgm:chPref val="1"/>
        </dgm:presLayoutVars>
      </dgm:prSet>
      <dgm:spPr/>
    </dgm:pt>
    <dgm:pt modelId="{F65B558E-47AF-4FB0-A09C-B354A19EEFD7}" type="pres">
      <dgm:prSet presAssocID="{51DC0B9C-9E12-4393-B169-A969D50B8694}" presName="sibTrans" presStyleCnt="0"/>
      <dgm:spPr/>
    </dgm:pt>
    <dgm:pt modelId="{C415B604-5B6E-4B94-801B-6593CA55B213}" type="pres">
      <dgm:prSet presAssocID="{66CB6DDE-FB9F-41B2-98C5-0024EDF4D8B8}" presName="compNode" presStyleCnt="0"/>
      <dgm:spPr/>
    </dgm:pt>
    <dgm:pt modelId="{DA9BABEA-41B9-4BF7-96DF-3288C96ADD02}" type="pres">
      <dgm:prSet presAssocID="{66CB6DDE-FB9F-41B2-98C5-0024EDF4D8B8}" presName="iconBgRect" presStyleLbl="bgShp" presStyleIdx="2" presStyleCnt="3"/>
      <dgm:spPr/>
    </dgm:pt>
    <dgm:pt modelId="{C47691DF-8A23-4CFD-8350-A4FF91844706}" type="pres">
      <dgm:prSet presAssocID="{66CB6DDE-FB9F-41B2-98C5-0024EDF4D8B8}"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User"/>
        </a:ext>
      </dgm:extLst>
    </dgm:pt>
    <dgm:pt modelId="{141F0E69-EEC9-4AFD-A139-1B80C7D9390D}" type="pres">
      <dgm:prSet presAssocID="{66CB6DDE-FB9F-41B2-98C5-0024EDF4D8B8}" presName="spaceRect" presStyleCnt="0"/>
      <dgm:spPr/>
    </dgm:pt>
    <dgm:pt modelId="{807D5E0B-6797-4CF5-A8B0-0069E84286F4}" type="pres">
      <dgm:prSet presAssocID="{66CB6DDE-FB9F-41B2-98C5-0024EDF4D8B8}" presName="textRect" presStyleLbl="revTx" presStyleIdx="2" presStyleCnt="3">
        <dgm:presLayoutVars>
          <dgm:chMax val="1"/>
          <dgm:chPref val="1"/>
        </dgm:presLayoutVars>
      </dgm:prSet>
      <dgm:spPr/>
    </dgm:pt>
  </dgm:ptLst>
  <dgm:cxnLst>
    <dgm:cxn modelId="{60301D37-79E0-1D45-B907-A5C47E4749AA}" type="presOf" srcId="{D1799E32-AE53-4A7E-9BFB-0C4A1183C23A}" destId="{2B20FADB-3E60-409E-BFA6-CD406B3ADFE6}" srcOrd="0" destOrd="0" presId="urn:microsoft.com/office/officeart/2018/5/layout/IconCircleLabelList"/>
    <dgm:cxn modelId="{9AB7653E-EAF4-524D-9B1A-FB258536C9A0}" type="presOf" srcId="{5EA15861-7598-4260-9CEB-D9381E6C05B0}" destId="{EB0335F2-051F-4B28-84F7-5CDFA1E94085}" srcOrd="0" destOrd="0" presId="urn:microsoft.com/office/officeart/2018/5/layout/IconCircleLabelList"/>
    <dgm:cxn modelId="{AA425E84-3865-F64E-BDC2-62051AB7EA45}" type="presOf" srcId="{23D6CA64-40D7-4CF0-BC4F-439281ECE729}" destId="{F57F4867-5796-4936-AD79-C90BCC16102E}" srcOrd="0" destOrd="0" presId="urn:microsoft.com/office/officeart/2018/5/layout/IconCircleLabelList"/>
    <dgm:cxn modelId="{1FC2C38C-72BB-4586-860F-C851EA92196B}" srcId="{5EA15861-7598-4260-9CEB-D9381E6C05B0}" destId="{23D6CA64-40D7-4CF0-BC4F-439281ECE729}" srcOrd="1" destOrd="0" parTransId="{8411A7F4-B6A2-4802-8245-6B9AA1D262AA}" sibTransId="{51DC0B9C-9E12-4393-B169-A969D50B8694}"/>
    <dgm:cxn modelId="{E5C91995-BB9B-4AB5-9430-A81B77D726FC}" srcId="{5EA15861-7598-4260-9CEB-D9381E6C05B0}" destId="{D1799E32-AE53-4A7E-9BFB-0C4A1183C23A}" srcOrd="0" destOrd="0" parTransId="{8E260A81-AA3D-4181-BD0F-85619E2D9E26}" sibTransId="{C57230FE-D53C-4017-9FFF-C3141097313C}"/>
    <dgm:cxn modelId="{7F0258BD-D204-499F-9449-F731AA0CDEC4}" srcId="{5EA15861-7598-4260-9CEB-D9381E6C05B0}" destId="{66CB6DDE-FB9F-41B2-98C5-0024EDF4D8B8}" srcOrd="2" destOrd="0" parTransId="{C1B601FB-DA0D-4879-9BBF-998593D7FE88}" sibTransId="{692DEB07-4366-4BCC-9FBA-1DF8E4420125}"/>
    <dgm:cxn modelId="{FD136FD1-0E14-9146-AD3A-2311ED020574}" type="presOf" srcId="{66CB6DDE-FB9F-41B2-98C5-0024EDF4D8B8}" destId="{807D5E0B-6797-4CF5-A8B0-0069E84286F4}" srcOrd="0" destOrd="0" presId="urn:microsoft.com/office/officeart/2018/5/layout/IconCircleLabelList"/>
    <dgm:cxn modelId="{52BE2FC1-45CD-6143-9485-DC5E4203401D}" type="presParOf" srcId="{EB0335F2-051F-4B28-84F7-5CDFA1E94085}" destId="{DFD701A7-0DA9-4F1D-931D-7A30BD2143C7}" srcOrd="0" destOrd="0" presId="urn:microsoft.com/office/officeart/2018/5/layout/IconCircleLabelList"/>
    <dgm:cxn modelId="{0C0852E4-6948-3548-8002-3F5A3A31121B}" type="presParOf" srcId="{DFD701A7-0DA9-4F1D-931D-7A30BD2143C7}" destId="{B660B732-9CC7-4BA2-B4AA-186D2B6282DF}" srcOrd="0" destOrd="0" presId="urn:microsoft.com/office/officeart/2018/5/layout/IconCircleLabelList"/>
    <dgm:cxn modelId="{7A4D84AE-F917-6A4A-A7C5-B67DC0BFD220}" type="presParOf" srcId="{DFD701A7-0DA9-4F1D-931D-7A30BD2143C7}" destId="{1EB11F85-7858-4724-9346-2E17B7CC5F13}" srcOrd="1" destOrd="0" presId="urn:microsoft.com/office/officeart/2018/5/layout/IconCircleLabelList"/>
    <dgm:cxn modelId="{A142AD16-8C70-CE40-860B-4B8DAF2EA737}" type="presParOf" srcId="{DFD701A7-0DA9-4F1D-931D-7A30BD2143C7}" destId="{B52AE9BE-6B5C-45F1-8D62-FCB81CA76923}" srcOrd="2" destOrd="0" presId="urn:microsoft.com/office/officeart/2018/5/layout/IconCircleLabelList"/>
    <dgm:cxn modelId="{7E251210-3E33-8D4E-BA10-9F146B81A2C4}" type="presParOf" srcId="{DFD701A7-0DA9-4F1D-931D-7A30BD2143C7}" destId="{2B20FADB-3E60-409E-BFA6-CD406B3ADFE6}" srcOrd="3" destOrd="0" presId="urn:microsoft.com/office/officeart/2018/5/layout/IconCircleLabelList"/>
    <dgm:cxn modelId="{0A6BFB7C-C7C5-7A42-8983-5B5CAD88BDA8}" type="presParOf" srcId="{EB0335F2-051F-4B28-84F7-5CDFA1E94085}" destId="{EBDE3C8B-5CED-4A85-A854-6AFE09BA52F9}" srcOrd="1" destOrd="0" presId="urn:microsoft.com/office/officeart/2018/5/layout/IconCircleLabelList"/>
    <dgm:cxn modelId="{DC9F2937-C962-2544-9850-E9F843ECCDA0}" type="presParOf" srcId="{EB0335F2-051F-4B28-84F7-5CDFA1E94085}" destId="{B585632C-B536-41C4-8B6B-3FB39E05B742}" srcOrd="2" destOrd="0" presId="urn:microsoft.com/office/officeart/2018/5/layout/IconCircleLabelList"/>
    <dgm:cxn modelId="{49F57B9F-BE42-A741-88C2-8DFB0C088720}" type="presParOf" srcId="{B585632C-B536-41C4-8B6B-3FB39E05B742}" destId="{4AB6A9E6-859C-48F2-9B60-68EEFE51B1D5}" srcOrd="0" destOrd="0" presId="urn:microsoft.com/office/officeart/2018/5/layout/IconCircleLabelList"/>
    <dgm:cxn modelId="{C479AED8-09B9-8449-8B76-A10B4FBA8467}" type="presParOf" srcId="{B585632C-B536-41C4-8B6B-3FB39E05B742}" destId="{C48AF93A-B5B9-4065-9727-085CDAEB20BD}" srcOrd="1" destOrd="0" presId="urn:microsoft.com/office/officeart/2018/5/layout/IconCircleLabelList"/>
    <dgm:cxn modelId="{490B0101-782D-294D-B633-9F07229AA952}" type="presParOf" srcId="{B585632C-B536-41C4-8B6B-3FB39E05B742}" destId="{2C36D697-4C1F-4904-87C1-2A0BF4FF9FFD}" srcOrd="2" destOrd="0" presId="urn:microsoft.com/office/officeart/2018/5/layout/IconCircleLabelList"/>
    <dgm:cxn modelId="{E6AB3AB0-8777-7341-BA4A-CFE20E0C5246}" type="presParOf" srcId="{B585632C-B536-41C4-8B6B-3FB39E05B742}" destId="{F57F4867-5796-4936-AD79-C90BCC16102E}" srcOrd="3" destOrd="0" presId="urn:microsoft.com/office/officeart/2018/5/layout/IconCircleLabelList"/>
    <dgm:cxn modelId="{2816292C-387F-9643-912B-53479DA4F39D}" type="presParOf" srcId="{EB0335F2-051F-4B28-84F7-5CDFA1E94085}" destId="{F65B558E-47AF-4FB0-A09C-B354A19EEFD7}" srcOrd="3" destOrd="0" presId="urn:microsoft.com/office/officeart/2018/5/layout/IconCircleLabelList"/>
    <dgm:cxn modelId="{A00EB3AE-C8C6-634E-B00A-DC9D15E594E9}" type="presParOf" srcId="{EB0335F2-051F-4B28-84F7-5CDFA1E94085}" destId="{C415B604-5B6E-4B94-801B-6593CA55B213}" srcOrd="4" destOrd="0" presId="urn:microsoft.com/office/officeart/2018/5/layout/IconCircleLabelList"/>
    <dgm:cxn modelId="{18B24991-7673-FD45-8332-A82E4556DED5}" type="presParOf" srcId="{C415B604-5B6E-4B94-801B-6593CA55B213}" destId="{DA9BABEA-41B9-4BF7-96DF-3288C96ADD02}" srcOrd="0" destOrd="0" presId="urn:microsoft.com/office/officeart/2018/5/layout/IconCircleLabelList"/>
    <dgm:cxn modelId="{1B3904AD-386C-B544-8589-9EC81A4A2E05}" type="presParOf" srcId="{C415B604-5B6E-4B94-801B-6593CA55B213}" destId="{C47691DF-8A23-4CFD-8350-A4FF91844706}" srcOrd="1" destOrd="0" presId="urn:microsoft.com/office/officeart/2018/5/layout/IconCircleLabelList"/>
    <dgm:cxn modelId="{8B6BD461-1F21-3346-B4CA-6816F51A4CE8}" type="presParOf" srcId="{C415B604-5B6E-4B94-801B-6593CA55B213}" destId="{141F0E69-EEC9-4AFD-A139-1B80C7D9390D}" srcOrd="2" destOrd="0" presId="urn:microsoft.com/office/officeart/2018/5/layout/IconCircleLabelList"/>
    <dgm:cxn modelId="{DA8979CB-0DAE-0C47-A661-53B3E436E7ED}" type="presParOf" srcId="{C415B604-5B6E-4B94-801B-6593CA55B213}" destId="{807D5E0B-6797-4CF5-A8B0-0069E84286F4}" srcOrd="3" destOrd="0" presId="urn:microsoft.com/office/officeart/2018/5/layout/IconCircle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4DDB111-0E8C-2F4D-A44C-BC8CC4F5F4DB}">
      <dsp:nvSpPr>
        <dsp:cNvPr id="0" name=""/>
        <dsp:cNvSpPr/>
      </dsp:nvSpPr>
      <dsp:spPr>
        <a:xfrm>
          <a:off x="0" y="454388"/>
          <a:ext cx="7544235" cy="2192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85516" tIns="604012" rIns="585516" bIns="206248" numCol="1" spcCol="1270" anchor="t" anchorCtr="0">
          <a:noAutofit/>
        </a:bodyPr>
        <a:lstStyle/>
        <a:p>
          <a:pPr marL="285750" lvl="1" indent="-285750" algn="l" defTabSz="1289050">
            <a:lnSpc>
              <a:spcPct val="90000"/>
            </a:lnSpc>
            <a:spcBef>
              <a:spcPct val="0"/>
            </a:spcBef>
            <a:spcAft>
              <a:spcPct val="15000"/>
            </a:spcAft>
            <a:buChar char="•"/>
          </a:pPr>
          <a:r>
            <a:rPr lang="en-US" sz="2900" kern="1200"/>
            <a:t>What have you been working on?</a:t>
          </a:r>
        </a:p>
        <a:p>
          <a:pPr marL="285750" lvl="1" indent="-285750" algn="l" defTabSz="1289050">
            <a:lnSpc>
              <a:spcPct val="90000"/>
            </a:lnSpc>
            <a:spcBef>
              <a:spcPct val="0"/>
            </a:spcBef>
            <a:spcAft>
              <a:spcPct val="15000"/>
            </a:spcAft>
            <a:buChar char="•"/>
          </a:pPr>
          <a:r>
            <a:rPr lang="en-US" sz="2900" kern="1200"/>
            <a:t>What is blocking you right now?</a:t>
          </a:r>
        </a:p>
        <a:p>
          <a:pPr marL="285750" lvl="1" indent="-285750" algn="l" defTabSz="1289050">
            <a:lnSpc>
              <a:spcPct val="90000"/>
            </a:lnSpc>
            <a:spcBef>
              <a:spcPct val="0"/>
            </a:spcBef>
            <a:spcAft>
              <a:spcPct val="15000"/>
            </a:spcAft>
            <a:buChar char="•"/>
          </a:pPr>
          <a:r>
            <a:rPr lang="en-US" sz="2900" kern="1200"/>
            <a:t>What are you going to be working on?</a:t>
          </a:r>
        </a:p>
      </dsp:txBody>
      <dsp:txXfrm>
        <a:off x="0" y="454388"/>
        <a:ext cx="7544235" cy="2192400"/>
      </dsp:txXfrm>
    </dsp:sp>
    <dsp:sp modelId="{180D6D06-88AD-E44C-A6C5-A5AE964A7E8E}">
      <dsp:nvSpPr>
        <dsp:cNvPr id="0" name=""/>
        <dsp:cNvSpPr/>
      </dsp:nvSpPr>
      <dsp:spPr>
        <a:xfrm>
          <a:off x="377211" y="26348"/>
          <a:ext cx="5280964" cy="85608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608" tIns="0" rIns="199608" bIns="0" numCol="1" spcCol="1270" anchor="ctr" anchorCtr="0">
          <a:noAutofit/>
        </a:bodyPr>
        <a:lstStyle/>
        <a:p>
          <a:pPr marL="0" lvl="0" indent="0" algn="l" defTabSz="1289050">
            <a:lnSpc>
              <a:spcPct val="90000"/>
            </a:lnSpc>
            <a:spcBef>
              <a:spcPct val="0"/>
            </a:spcBef>
            <a:spcAft>
              <a:spcPct val="35000"/>
            </a:spcAft>
            <a:buNone/>
          </a:pPr>
          <a:r>
            <a:rPr lang="en-US" sz="2900" kern="1200"/>
            <a:t>Three questions to answer:</a:t>
          </a:r>
        </a:p>
      </dsp:txBody>
      <dsp:txXfrm>
        <a:off x="419001" y="68138"/>
        <a:ext cx="5197384" cy="77250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660B732-9CC7-4BA2-B4AA-186D2B6282DF}">
      <dsp:nvSpPr>
        <dsp:cNvPr id="0" name=""/>
        <dsp:cNvSpPr/>
      </dsp:nvSpPr>
      <dsp:spPr>
        <a:xfrm>
          <a:off x="620567" y="592127"/>
          <a:ext cx="1852875" cy="1852875"/>
        </a:xfrm>
        <a:prstGeom prst="ellipse">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EB11F85-7858-4724-9346-2E17B7CC5F13}">
      <dsp:nvSpPr>
        <dsp:cNvPr id="0" name=""/>
        <dsp:cNvSpPr/>
      </dsp:nvSpPr>
      <dsp:spPr>
        <a:xfrm>
          <a:off x="1015443" y="987002"/>
          <a:ext cx="1063125" cy="106312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B20FADB-3E60-409E-BFA6-CD406B3ADFE6}">
      <dsp:nvSpPr>
        <dsp:cNvPr id="0" name=""/>
        <dsp:cNvSpPr/>
      </dsp:nvSpPr>
      <dsp:spPr>
        <a:xfrm>
          <a:off x="28255" y="3022128"/>
          <a:ext cx="3037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kern="1200" dirty="0"/>
            <a:t>team members were kept accountable.</a:t>
          </a:r>
        </a:p>
      </dsp:txBody>
      <dsp:txXfrm>
        <a:off x="28255" y="3022128"/>
        <a:ext cx="3037500" cy="720000"/>
      </dsp:txXfrm>
    </dsp:sp>
    <dsp:sp modelId="{4AB6A9E6-859C-48F2-9B60-68EEFE51B1D5}">
      <dsp:nvSpPr>
        <dsp:cNvPr id="0" name=""/>
        <dsp:cNvSpPr/>
      </dsp:nvSpPr>
      <dsp:spPr>
        <a:xfrm>
          <a:off x="4189630" y="592127"/>
          <a:ext cx="1852875" cy="1852875"/>
        </a:xfrm>
        <a:prstGeom prst="ellipse">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8AF93A-B5B9-4065-9727-085CDAEB20BD}">
      <dsp:nvSpPr>
        <dsp:cNvPr id="0" name=""/>
        <dsp:cNvSpPr/>
      </dsp:nvSpPr>
      <dsp:spPr>
        <a:xfrm>
          <a:off x="4584505" y="987002"/>
          <a:ext cx="1063125" cy="106312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57F4867-5796-4936-AD79-C90BCC16102E}">
      <dsp:nvSpPr>
        <dsp:cNvPr id="0" name=""/>
        <dsp:cNvSpPr/>
      </dsp:nvSpPr>
      <dsp:spPr>
        <a:xfrm>
          <a:off x="3597318" y="3022128"/>
          <a:ext cx="3037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kern="1200" dirty="0"/>
            <a:t>workload was consistent.</a:t>
          </a:r>
        </a:p>
      </dsp:txBody>
      <dsp:txXfrm>
        <a:off x="3597318" y="3022128"/>
        <a:ext cx="3037500" cy="720000"/>
      </dsp:txXfrm>
    </dsp:sp>
    <dsp:sp modelId="{DA9BABEA-41B9-4BF7-96DF-3288C96ADD02}">
      <dsp:nvSpPr>
        <dsp:cNvPr id="0" name=""/>
        <dsp:cNvSpPr/>
      </dsp:nvSpPr>
      <dsp:spPr>
        <a:xfrm>
          <a:off x="7758693" y="592127"/>
          <a:ext cx="1852875" cy="1852875"/>
        </a:xfrm>
        <a:prstGeom prst="ellipse">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47691DF-8A23-4CFD-8350-A4FF91844706}">
      <dsp:nvSpPr>
        <dsp:cNvPr id="0" name=""/>
        <dsp:cNvSpPr/>
      </dsp:nvSpPr>
      <dsp:spPr>
        <a:xfrm>
          <a:off x="8153568" y="987002"/>
          <a:ext cx="1063125" cy="106312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07D5E0B-6797-4CF5-A8B0-0069E84286F4}">
      <dsp:nvSpPr>
        <dsp:cNvPr id="0" name=""/>
        <dsp:cNvSpPr/>
      </dsp:nvSpPr>
      <dsp:spPr>
        <a:xfrm>
          <a:off x="7166380" y="3022128"/>
          <a:ext cx="30375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755650">
            <a:lnSpc>
              <a:spcPct val="100000"/>
            </a:lnSpc>
            <a:spcBef>
              <a:spcPct val="0"/>
            </a:spcBef>
            <a:spcAft>
              <a:spcPct val="35000"/>
            </a:spcAft>
            <a:buNone/>
            <a:defRPr cap="all"/>
          </a:pPr>
          <a:r>
            <a:rPr lang="en-US" sz="1700" kern="1200" dirty="0"/>
            <a:t>no user stories left in the backlog for either sprint.</a:t>
          </a:r>
        </a:p>
      </dsp:txBody>
      <dsp:txXfrm>
        <a:off x="7166380" y="3022128"/>
        <a:ext cx="3037500" cy="720000"/>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5/layout/IconCircleLabelList">
  <dgm:title val="Icon Circle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ellipse" r:blip="">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7E210A-A304-4968-80FB-DB9CBE0833F1}" type="datetimeFigureOut">
              <a:rPr lang="en-GB" smtClean="0"/>
              <a:t>01/05/2025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F5BB4F-8A93-4C67-9375-1791AA42398F}" type="slidenum">
              <a:rPr lang="en-GB" smtClean="0"/>
              <a:t>‹#›</a:t>
            </a:fld>
            <a:endParaRPr lang="en-GB"/>
          </a:p>
        </p:txBody>
      </p:sp>
    </p:spTree>
    <p:extLst>
      <p:ext uri="{BB962C8B-B14F-4D97-AF65-F5344CB8AC3E}">
        <p14:creationId xmlns:p14="http://schemas.microsoft.com/office/powerpoint/2010/main" val="29627759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E5F5BB4F-8A93-4C67-9375-1791AA42398F}" type="slidenum">
              <a:rPr lang="en-GB" smtClean="0"/>
              <a:t>14</a:t>
            </a:fld>
            <a:endParaRPr lang="en-GB"/>
          </a:p>
        </p:txBody>
      </p:sp>
    </p:spTree>
    <p:extLst>
      <p:ext uri="{BB962C8B-B14F-4D97-AF65-F5344CB8AC3E}">
        <p14:creationId xmlns:p14="http://schemas.microsoft.com/office/powerpoint/2010/main" val="3509498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35E9650-65DA-A54E-BFEC-5CDF94E33AFC}" type="slidenum">
              <a:rPr lang="en-US" smtClean="0"/>
              <a:t>19</a:t>
            </a:fld>
            <a:endParaRPr lang="en-US"/>
          </a:p>
        </p:txBody>
      </p:sp>
    </p:spTree>
    <p:extLst>
      <p:ext uri="{BB962C8B-B14F-4D97-AF65-F5344CB8AC3E}">
        <p14:creationId xmlns:p14="http://schemas.microsoft.com/office/powerpoint/2010/main" val="4015500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We had two standup meetings a week, one at the beginning, and one at the end.</a:t>
            </a:r>
            <a:br>
              <a:rPr lang="en-GB" dirty="0"/>
            </a:br>
            <a:r>
              <a:rPr lang="en-GB" dirty="0"/>
              <a:t>We had a limit for each standup of 15 minutes, which meant that each member had about 3 minutes to answer the questions. Despite the time limit, we never went over 15 minutes. We also used these three questions as a prompt.</a:t>
            </a:r>
            <a:endParaRPr lang="en-US" dirty="0"/>
          </a:p>
          <a:p>
            <a:endParaRPr lang="en-US" dirty="0"/>
          </a:p>
        </p:txBody>
      </p:sp>
      <p:sp>
        <p:nvSpPr>
          <p:cNvPr id="4" name="Slide Number Placeholder 3"/>
          <p:cNvSpPr>
            <a:spLocks noGrp="1"/>
          </p:cNvSpPr>
          <p:nvPr>
            <p:ph type="sldNum" sz="quarter" idx="5"/>
          </p:nvPr>
        </p:nvSpPr>
        <p:spPr/>
        <p:txBody>
          <a:bodyPr/>
          <a:lstStyle/>
          <a:p>
            <a:fld id="{735E9650-65DA-A54E-BFEC-5CDF94E33AFC}" type="slidenum">
              <a:rPr lang="en-US" smtClean="0"/>
              <a:t>21</a:t>
            </a:fld>
            <a:endParaRPr lang="en-US"/>
          </a:p>
        </p:txBody>
      </p:sp>
    </p:spTree>
    <p:extLst>
      <p:ext uri="{BB962C8B-B14F-4D97-AF65-F5344CB8AC3E}">
        <p14:creationId xmlns:p14="http://schemas.microsoft.com/office/powerpoint/2010/main" val="12127144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Kept individuals accountable in following internal deadlines – When talking about what they were going to be working on, team members would often set themselves deadlines, especially if other team members were waiting on them before they could begin.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Promoted consistency in workload – People were regularly setting goals for what they were next going to accomplish before the next meeting, so work was done throughout the sprint rather than just at the end.</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All user stories complete</a:t>
            </a:r>
            <a:endParaRPr lang="en-US" dirty="0"/>
          </a:p>
          <a:p>
            <a:endParaRPr lang="en-US" dirty="0"/>
          </a:p>
        </p:txBody>
      </p:sp>
      <p:sp>
        <p:nvSpPr>
          <p:cNvPr id="4" name="Slide Number Placeholder 3"/>
          <p:cNvSpPr>
            <a:spLocks noGrp="1"/>
          </p:cNvSpPr>
          <p:nvPr>
            <p:ph type="sldNum" sz="quarter" idx="5"/>
          </p:nvPr>
        </p:nvSpPr>
        <p:spPr/>
        <p:txBody>
          <a:bodyPr/>
          <a:lstStyle/>
          <a:p>
            <a:fld id="{735E9650-65DA-A54E-BFEC-5CDF94E33AFC}" type="slidenum">
              <a:rPr lang="en-US" smtClean="0"/>
              <a:t>22</a:t>
            </a:fld>
            <a:endParaRPr lang="en-US"/>
          </a:p>
        </p:txBody>
      </p:sp>
    </p:spTree>
    <p:extLst>
      <p:ext uri="{BB962C8B-B14F-4D97-AF65-F5344CB8AC3E}">
        <p14:creationId xmlns:p14="http://schemas.microsoft.com/office/powerpoint/2010/main" val="35803543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CE43FF-F097-15A0-41EF-8D085B2226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43F04C75-C2E6-C356-B7C5-B05FD68DE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BA390B8F-6C5C-53A8-4C82-7F4D4045178F}"/>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5" name="Footer Placeholder 4">
            <a:extLst>
              <a:ext uri="{FF2B5EF4-FFF2-40B4-BE49-F238E27FC236}">
                <a16:creationId xmlns:a16="http://schemas.microsoft.com/office/drawing/2014/main" id="{B5FB5091-76FF-5ED4-DD18-3172E9EADDC1}"/>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9BD5361E-4B16-617D-92E3-51643E256B7A}"/>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34365580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FC88B-E82E-F737-7F47-B0F26FBABD7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317AC18-C385-0BD3-C028-A976E559627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A8C662B-4DE8-BAED-627F-AB963FDCB4DE}"/>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5" name="Footer Placeholder 4">
            <a:extLst>
              <a:ext uri="{FF2B5EF4-FFF2-40B4-BE49-F238E27FC236}">
                <a16:creationId xmlns:a16="http://schemas.microsoft.com/office/drawing/2014/main" id="{8AE81044-3CF5-3E82-7595-7C6D15A2DDEA}"/>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F4A67FF5-A187-6AFD-AF4A-8994956D23D2}"/>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834527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E422AF-97AD-3282-6561-ADA4BCF526E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F07EC69-01FA-D616-E295-47CB3DF84E7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B08AB9-71F8-DC7A-6CFD-28B42D96D0F9}"/>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5" name="Footer Placeholder 4">
            <a:extLst>
              <a:ext uri="{FF2B5EF4-FFF2-40B4-BE49-F238E27FC236}">
                <a16:creationId xmlns:a16="http://schemas.microsoft.com/office/drawing/2014/main" id="{18D0C6B1-A67E-584C-7A01-1B8A7E953AAF}"/>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EDDBDA8D-774F-793C-85C0-075C764DDCEB}"/>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4993464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4A402-BA90-385E-F8E8-71F9D821148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998E536-8E60-3A1A-42CD-63B11E76093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3547A5B4-6960-CAA1-A539-710C020F63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7BF71CC-1492-FFB1-A5D8-603EBA842A63}"/>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6" name="Footer Placeholder 5">
            <a:extLst>
              <a:ext uri="{FF2B5EF4-FFF2-40B4-BE49-F238E27FC236}">
                <a16:creationId xmlns:a16="http://schemas.microsoft.com/office/drawing/2014/main" id="{0189D417-5633-DD83-E7B6-AFB5055D7E0C}"/>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1DC17D4F-735A-2CC3-0CB9-0D6B6AC57A58}"/>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26554807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E63892-39C7-2D6B-E85C-AEE8FF42D158}"/>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0A8831C-7F14-B362-F398-8EF187022C2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78DEE3-7FF4-57B8-31C1-9669770E6F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594CAF51-67E8-95A3-B810-B5981813F69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A5755F98-BE71-410C-621A-6DD002ACD6F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606C506-1D7F-D551-F801-23D47C17E579}"/>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8" name="Footer Placeholder 7">
            <a:extLst>
              <a:ext uri="{FF2B5EF4-FFF2-40B4-BE49-F238E27FC236}">
                <a16:creationId xmlns:a16="http://schemas.microsoft.com/office/drawing/2014/main" id="{9242C060-F1F6-F69D-10C7-7DEF7F70A48B}"/>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F63D592C-D0FB-9A72-52AB-EA9B20E69606}"/>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472406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03D3AA-DA16-2023-CA88-9C1500910AE3}"/>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F9EB1188-5103-1D7F-8508-68200F72D5E8}"/>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4" name="Footer Placeholder 3">
            <a:extLst>
              <a:ext uri="{FF2B5EF4-FFF2-40B4-BE49-F238E27FC236}">
                <a16:creationId xmlns:a16="http://schemas.microsoft.com/office/drawing/2014/main" id="{EBCCAC0B-5E2B-9D27-B212-69207AB48554}"/>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B54F8266-0184-611E-6F28-CB1F7CAE38C4}"/>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240607219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5882F22-0D24-FEC8-AB20-0A06F5DA211B}"/>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3" name="Footer Placeholder 2">
            <a:extLst>
              <a:ext uri="{FF2B5EF4-FFF2-40B4-BE49-F238E27FC236}">
                <a16:creationId xmlns:a16="http://schemas.microsoft.com/office/drawing/2014/main" id="{DFC98242-3333-6061-F157-0863543C1FB4}"/>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41A426BE-40D0-7AAA-8A47-08A1605454B3}"/>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1449814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DF59D-5B83-55E1-9F69-83AE89E51D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9FD251D8-6D9A-E356-E6E7-A1917EF3881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86D7780D-7BF8-A44B-CA74-0CBC273CC79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EBFA2D-9BB3-4081-D08E-15CEE99AF044}"/>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6" name="Footer Placeholder 5">
            <a:extLst>
              <a:ext uri="{FF2B5EF4-FFF2-40B4-BE49-F238E27FC236}">
                <a16:creationId xmlns:a16="http://schemas.microsoft.com/office/drawing/2014/main" id="{6571FE4D-682C-2E45-3CAE-79B1136B4D9D}"/>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F4DFD9E4-7D7E-E247-86B1-FE7B384B9DA3}"/>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13880683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AE0346-E36E-55F4-9F27-B665123F9AB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DDCD505-FD9D-9AE9-1D0C-494590B32E9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dirty="0"/>
          </a:p>
        </p:txBody>
      </p:sp>
      <p:sp>
        <p:nvSpPr>
          <p:cNvPr id="4" name="Text Placeholder 3">
            <a:extLst>
              <a:ext uri="{FF2B5EF4-FFF2-40B4-BE49-F238E27FC236}">
                <a16:creationId xmlns:a16="http://schemas.microsoft.com/office/drawing/2014/main" id="{07AA53C2-64C0-EFCA-B079-2B158A3F1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1EE6E47-2BD8-BF75-156C-74F857AFDDF9}"/>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6" name="Footer Placeholder 5">
            <a:extLst>
              <a:ext uri="{FF2B5EF4-FFF2-40B4-BE49-F238E27FC236}">
                <a16:creationId xmlns:a16="http://schemas.microsoft.com/office/drawing/2014/main" id="{ED30077B-03DB-50BE-2D84-F22B5E9F1C96}"/>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EF5F572D-4F65-C446-3807-A143358DC4A6}"/>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8210984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EE1DD2-B68A-16E7-ABD9-E1567C2E4B9F}"/>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255BA09-BF19-B08E-7BC7-67428787C32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62CA897-59EF-BDB5-34BB-20A35AD3326F}"/>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5" name="Footer Placeholder 4">
            <a:extLst>
              <a:ext uri="{FF2B5EF4-FFF2-40B4-BE49-F238E27FC236}">
                <a16:creationId xmlns:a16="http://schemas.microsoft.com/office/drawing/2014/main" id="{926FA358-6F3B-7C9D-9BE8-F971EABEEA0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06288B1F-C34E-FE2E-7BCC-CC5B9473A010}"/>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25423163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EA922C-9439-1CBC-66F5-A430FEE6119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A1245A3-8202-6F19-AF92-7F9C7511E37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D57E557-B444-B599-8541-F4CF8A370D52}"/>
              </a:ext>
            </a:extLst>
          </p:cNvPr>
          <p:cNvSpPr>
            <a:spLocks noGrp="1"/>
          </p:cNvSpPr>
          <p:nvPr>
            <p:ph type="dt" sz="half" idx="10"/>
          </p:nvPr>
        </p:nvSpPr>
        <p:spPr/>
        <p:txBody>
          <a:bodyPr/>
          <a:lstStyle/>
          <a:p>
            <a:fld id="{EFC7380B-6FA4-4E74-8F50-B27091C2622B}" type="datetimeFigureOut">
              <a:rPr lang="en-GB" smtClean="0"/>
              <a:t>01/05/2025</a:t>
            </a:fld>
            <a:endParaRPr lang="en-GB" dirty="0"/>
          </a:p>
        </p:txBody>
      </p:sp>
      <p:sp>
        <p:nvSpPr>
          <p:cNvPr id="5" name="Footer Placeholder 4">
            <a:extLst>
              <a:ext uri="{FF2B5EF4-FFF2-40B4-BE49-F238E27FC236}">
                <a16:creationId xmlns:a16="http://schemas.microsoft.com/office/drawing/2014/main" id="{513B560C-AFF1-49B7-8273-2AF8EF6B4591}"/>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37E63929-8FE4-BFEF-FAFD-F075DC6DF2D2}"/>
              </a:ext>
            </a:extLst>
          </p:cNvPr>
          <p:cNvSpPr>
            <a:spLocks noGrp="1"/>
          </p:cNvSpPr>
          <p:nvPr>
            <p:ph type="sldNum" sz="quarter" idx="12"/>
          </p:nvPr>
        </p:nvSpPr>
        <p:spPr/>
        <p:txBody>
          <a:bodyPr/>
          <a:lstStyle/>
          <a:p>
            <a:fld id="{E022B657-30AD-4A38-8AB9-122B34D34C20}" type="slidenum">
              <a:rPr lang="en-GB" smtClean="0"/>
              <a:t>‹#›</a:t>
            </a:fld>
            <a:endParaRPr lang="en-GB" dirty="0"/>
          </a:p>
        </p:txBody>
      </p:sp>
    </p:spTree>
    <p:extLst>
      <p:ext uri="{BB962C8B-B14F-4D97-AF65-F5344CB8AC3E}">
        <p14:creationId xmlns:p14="http://schemas.microsoft.com/office/powerpoint/2010/main" val="2774911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24D88C-2EDC-1F6C-8ED6-BA4BF63C48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04C5C30A-76FF-1C80-0C65-65CA778EF74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A26641F2-1AF6-DAA7-4EAA-4B2FAF251FF5}"/>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5" name="Footer Placeholder 4">
            <a:extLst>
              <a:ext uri="{FF2B5EF4-FFF2-40B4-BE49-F238E27FC236}">
                <a16:creationId xmlns:a16="http://schemas.microsoft.com/office/drawing/2014/main" id="{0F6BFBD1-7526-11C3-0CE9-625388F60ABA}"/>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A081397-6FFB-0241-5675-703331E7917A}"/>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42532989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BFB87D-DC3F-3088-B697-76D46B9FB6F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5CEB758-C664-996A-CB86-6DED0537181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A8AC8D5-C266-6ADE-18EE-C1C959045EB7}"/>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5" name="Footer Placeholder 4">
            <a:extLst>
              <a:ext uri="{FF2B5EF4-FFF2-40B4-BE49-F238E27FC236}">
                <a16:creationId xmlns:a16="http://schemas.microsoft.com/office/drawing/2014/main" id="{97BACAD1-0B8A-3604-FED5-1495F00E328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D15D8350-A1ED-52A0-9488-D0F343327C69}"/>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29689983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624EAA-D391-2C3E-E3FE-DDE1BCA9C73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FE3D0DFD-C544-B9B6-FC4B-F4FC274D8D5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9A01BAF-1565-4BED-A36A-F662A095DDD7}"/>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5" name="Footer Placeholder 4">
            <a:extLst>
              <a:ext uri="{FF2B5EF4-FFF2-40B4-BE49-F238E27FC236}">
                <a16:creationId xmlns:a16="http://schemas.microsoft.com/office/drawing/2014/main" id="{4FCECCDE-714E-002F-6280-888CA91D8C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067C73D0-63CA-5DB7-6DF1-8EAB5499010A}"/>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1258734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EC6A3D-792C-BD21-495E-B0ACD56B51D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FEF1CB9D-03C5-D934-6C4B-AF28990DCAD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4E5D18AA-DD4D-ACB8-9159-FAF924F09E3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857AFF68-BF3A-1E4B-11B8-7B6B18FBBD5A}"/>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6" name="Footer Placeholder 5">
            <a:extLst>
              <a:ext uri="{FF2B5EF4-FFF2-40B4-BE49-F238E27FC236}">
                <a16:creationId xmlns:a16="http://schemas.microsoft.com/office/drawing/2014/main" id="{55843AD9-63AE-6ED1-8CF3-A9F5F9563692}"/>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2B07D58-73D4-057A-B6EF-BC0B86786A15}"/>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18325820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1A4A73-02CC-003B-C8BF-3EE6EDB67D3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2638E6B-0500-6905-A100-602EB7D227F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77E3D45-4963-4E6F-E40E-FAB836F3C44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22D8EA02-50B7-FE75-2910-831CF298CE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B2BA65B-CBD4-B069-4E67-743B5F25CFA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B38128D2-2E23-57FE-7330-73E912C50FE4}"/>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8" name="Footer Placeholder 7">
            <a:extLst>
              <a:ext uri="{FF2B5EF4-FFF2-40B4-BE49-F238E27FC236}">
                <a16:creationId xmlns:a16="http://schemas.microsoft.com/office/drawing/2014/main" id="{600077ED-C5FF-A3EB-E94F-5BEF49B6BDEA}"/>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658DFBE0-EB2B-F849-89DF-78E0D2222F98}"/>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74313216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C8E113-C167-3B27-1186-9A93EE3A2AF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ECCD3B1-78B4-AF92-B0C0-756A8745E8E1}"/>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4" name="Footer Placeholder 3">
            <a:extLst>
              <a:ext uri="{FF2B5EF4-FFF2-40B4-BE49-F238E27FC236}">
                <a16:creationId xmlns:a16="http://schemas.microsoft.com/office/drawing/2014/main" id="{A872A091-DC0D-4781-9FB4-2D26ECE7EE95}"/>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7C74BBA8-CDF3-AF8F-B1CD-A786C0A89FE3}"/>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118856134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DD686E-BC00-776D-1175-C0ABD24ED215}"/>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3" name="Footer Placeholder 2">
            <a:extLst>
              <a:ext uri="{FF2B5EF4-FFF2-40B4-BE49-F238E27FC236}">
                <a16:creationId xmlns:a16="http://schemas.microsoft.com/office/drawing/2014/main" id="{36F6732A-05AF-36E2-88AB-C3561E38A2E9}"/>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38A03885-1BA6-AD57-4E08-A30108425EA4}"/>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110209792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404347-94FB-13D7-5315-FC89DD056FF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E18C5A8D-DCBE-8B78-CAC8-2D3D4BB9D5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C271202-EF7F-C9C5-DE49-6E24BB84DD7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5B8D91-296C-B797-B2EA-903D4FD79CB8}"/>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6" name="Footer Placeholder 5">
            <a:extLst>
              <a:ext uri="{FF2B5EF4-FFF2-40B4-BE49-F238E27FC236}">
                <a16:creationId xmlns:a16="http://schemas.microsoft.com/office/drawing/2014/main" id="{9D7E2380-B053-77A7-0C80-B33456A92FD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2BD51AB-7FE7-3C2B-556A-39DD4FD90D98}"/>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198692092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AD40AE-45D1-D211-0A7D-6324C16B28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898AFCC-89A4-4443-4E2E-AC361BEEA9B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F959601-3464-8B69-2BAD-B629E8358A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FF5F04-8BB3-DE78-5F12-124997A59F49}"/>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6" name="Footer Placeholder 5">
            <a:extLst>
              <a:ext uri="{FF2B5EF4-FFF2-40B4-BE49-F238E27FC236}">
                <a16:creationId xmlns:a16="http://schemas.microsoft.com/office/drawing/2014/main" id="{3C60DA0A-B33D-73DB-0FDC-27FA3CE218ED}"/>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A5868FA-B3C7-1263-4896-5D540304ECFB}"/>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939424681"/>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BB7DEF-F0F3-B2F0-E7EA-90A168EDE7E6}"/>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FDF8039-3DE6-C227-E9B1-51D0E4EBA8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882529C-208F-C119-3B87-92972074A1BD}"/>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5" name="Footer Placeholder 4">
            <a:extLst>
              <a:ext uri="{FF2B5EF4-FFF2-40B4-BE49-F238E27FC236}">
                <a16:creationId xmlns:a16="http://schemas.microsoft.com/office/drawing/2014/main" id="{8C28E932-E766-391B-6EEC-6521B3277E4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7F3DF9A-5D7F-FEBA-85F3-0E6D9EE05681}"/>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165498519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F8A82FB-41D4-795D-5FDE-4FB7A361168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86DF196B-E12C-4BBA-0E22-26BAD7DFAA5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3CACE0B4-3D9C-EB1D-FFBC-94155E2FE69E}"/>
              </a:ext>
            </a:extLst>
          </p:cNvPr>
          <p:cNvSpPr>
            <a:spLocks noGrp="1"/>
          </p:cNvSpPr>
          <p:nvPr>
            <p:ph type="dt" sz="half" idx="10"/>
          </p:nvPr>
        </p:nvSpPr>
        <p:spPr/>
        <p:txBody>
          <a:bodyPr/>
          <a:lstStyle/>
          <a:p>
            <a:fld id="{9F7E7157-6683-4E10-9768-98067D884164}" type="datetimeFigureOut">
              <a:rPr lang="en-GB" smtClean="0"/>
              <a:t>01/05/2025</a:t>
            </a:fld>
            <a:endParaRPr lang="en-GB"/>
          </a:p>
        </p:txBody>
      </p:sp>
      <p:sp>
        <p:nvSpPr>
          <p:cNvPr id="5" name="Footer Placeholder 4">
            <a:extLst>
              <a:ext uri="{FF2B5EF4-FFF2-40B4-BE49-F238E27FC236}">
                <a16:creationId xmlns:a16="http://schemas.microsoft.com/office/drawing/2014/main" id="{DF56C69B-427F-3030-0079-2E8F7F87154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83A19F7-D338-A729-781D-0420C71F1040}"/>
              </a:ext>
            </a:extLst>
          </p:cNvPr>
          <p:cNvSpPr>
            <a:spLocks noGrp="1"/>
          </p:cNvSpPr>
          <p:nvPr>
            <p:ph type="sldNum" sz="quarter" idx="12"/>
          </p:nvPr>
        </p:nvSpPr>
        <p:spPr/>
        <p:txBody>
          <a:bodyPr/>
          <a:lstStyle/>
          <a:p>
            <a:fld id="{E45FC356-3FC3-429B-9FB2-E22295C67877}" type="slidenum">
              <a:rPr lang="en-GB" smtClean="0"/>
              <a:t>‹#›</a:t>
            </a:fld>
            <a:endParaRPr lang="en-GB"/>
          </a:p>
        </p:txBody>
      </p:sp>
    </p:spTree>
    <p:extLst>
      <p:ext uri="{BB962C8B-B14F-4D97-AF65-F5344CB8AC3E}">
        <p14:creationId xmlns:p14="http://schemas.microsoft.com/office/powerpoint/2010/main" val="42538248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D02091F-2390-8B31-52AD-3FE2CE36C25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68CAC2D-3C06-E0C6-671A-00E2C2DAD30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96B8C26-6AB6-EED7-3CAC-7F7687BBDB2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FC7380B-6FA4-4E74-8F50-B27091C2622B}" type="datetimeFigureOut">
              <a:rPr lang="en-GB" smtClean="0"/>
              <a:t>01/05/2025</a:t>
            </a:fld>
            <a:endParaRPr lang="en-GB" dirty="0"/>
          </a:p>
        </p:txBody>
      </p:sp>
      <p:sp>
        <p:nvSpPr>
          <p:cNvPr id="5" name="Footer Placeholder 4">
            <a:extLst>
              <a:ext uri="{FF2B5EF4-FFF2-40B4-BE49-F238E27FC236}">
                <a16:creationId xmlns:a16="http://schemas.microsoft.com/office/drawing/2014/main" id="{BD223E93-A715-2B5A-BDB5-D0451142ED4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dirty="0"/>
          </a:p>
        </p:txBody>
      </p:sp>
      <p:sp>
        <p:nvSpPr>
          <p:cNvPr id="6" name="Slide Number Placeholder 5">
            <a:extLst>
              <a:ext uri="{FF2B5EF4-FFF2-40B4-BE49-F238E27FC236}">
                <a16:creationId xmlns:a16="http://schemas.microsoft.com/office/drawing/2014/main" id="{CB5D34CC-7907-766E-A938-46BEF68F607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022B657-30AD-4A38-8AB9-122B34D34C20}" type="slidenum">
              <a:rPr lang="en-GB" smtClean="0"/>
              <a:t>‹#›</a:t>
            </a:fld>
            <a:endParaRPr lang="en-GB" dirty="0"/>
          </a:p>
        </p:txBody>
      </p:sp>
    </p:spTree>
    <p:extLst>
      <p:ext uri="{BB962C8B-B14F-4D97-AF65-F5344CB8AC3E}">
        <p14:creationId xmlns:p14="http://schemas.microsoft.com/office/powerpoint/2010/main" val="862914465"/>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9C31F2-252E-8A0C-4B18-A4798D7B63C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E7D3A20-682F-3337-964A-2D14AE0CB7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B7F0861-D5C9-28E5-11B7-8EA66F382C2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F7E7157-6683-4E10-9768-98067D884164}" type="datetimeFigureOut">
              <a:rPr lang="en-GB" smtClean="0"/>
              <a:t>01/05/2025</a:t>
            </a:fld>
            <a:endParaRPr lang="en-GB"/>
          </a:p>
        </p:txBody>
      </p:sp>
      <p:sp>
        <p:nvSpPr>
          <p:cNvPr id="5" name="Footer Placeholder 4">
            <a:extLst>
              <a:ext uri="{FF2B5EF4-FFF2-40B4-BE49-F238E27FC236}">
                <a16:creationId xmlns:a16="http://schemas.microsoft.com/office/drawing/2014/main" id="{06362C0B-B0DF-2695-1C03-363EFDC26D7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1D281B52-DAF3-2F0A-E378-3BA8987576A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45FC356-3FC3-429B-9FB2-E22295C67877}" type="slidenum">
              <a:rPr lang="en-GB" smtClean="0"/>
              <a:t>‹#›</a:t>
            </a:fld>
            <a:endParaRPr lang="en-GB"/>
          </a:p>
        </p:txBody>
      </p:sp>
    </p:spTree>
    <p:extLst>
      <p:ext uri="{BB962C8B-B14F-4D97-AF65-F5344CB8AC3E}">
        <p14:creationId xmlns:p14="http://schemas.microsoft.com/office/powerpoint/2010/main" val="168782231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13.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17.jpg"/><Relationship Id="rId7" Type="http://schemas.openxmlformats.org/officeDocument/2006/relationships/diagramColors" Target="../diagrams/colors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2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3E79E-9695-C3E1-B962-07CC05AD8208}"/>
              </a:ext>
            </a:extLst>
          </p:cNvPr>
          <p:cNvSpPr>
            <a:spLocks noGrp="1"/>
          </p:cNvSpPr>
          <p:nvPr>
            <p:ph type="ctrTitle"/>
          </p:nvPr>
        </p:nvSpPr>
        <p:spPr>
          <a:xfrm>
            <a:off x="1524000" y="556306"/>
            <a:ext cx="9144000" cy="2387600"/>
          </a:xfrm>
        </p:spPr>
        <p:txBody>
          <a:bodyPr>
            <a:normAutofit fontScale="90000"/>
          </a:bodyPr>
          <a:lstStyle/>
          <a:p>
            <a:br>
              <a:rPr lang="en-GB" dirty="0"/>
            </a:br>
            <a:br>
              <a:rPr lang="en-GB" dirty="0"/>
            </a:br>
            <a:br>
              <a:rPr lang="en-GB" dirty="0"/>
            </a:br>
            <a:r>
              <a:rPr lang="en-GB" dirty="0"/>
              <a:t>Overview of the project purpose</a:t>
            </a:r>
          </a:p>
        </p:txBody>
      </p:sp>
      <p:sp>
        <p:nvSpPr>
          <p:cNvPr id="3" name="Subtitle 2">
            <a:extLst>
              <a:ext uri="{FF2B5EF4-FFF2-40B4-BE49-F238E27FC236}">
                <a16:creationId xmlns:a16="http://schemas.microsoft.com/office/drawing/2014/main" id="{B5610768-469D-E8BB-28F7-CA52B3AEC811}"/>
              </a:ext>
            </a:extLst>
          </p:cNvPr>
          <p:cNvSpPr>
            <a:spLocks noGrp="1"/>
          </p:cNvSpPr>
          <p:nvPr>
            <p:ph type="subTitle" idx="1"/>
          </p:nvPr>
        </p:nvSpPr>
        <p:spPr>
          <a:xfrm>
            <a:off x="1524000" y="3278707"/>
            <a:ext cx="9144000" cy="1655762"/>
          </a:xfrm>
        </p:spPr>
        <p:txBody>
          <a:bodyPr/>
          <a:lstStyle/>
          <a:p>
            <a:r>
              <a:rPr lang="en-GB" i="1" dirty="0"/>
              <a:t>John King</a:t>
            </a:r>
            <a:br>
              <a:rPr lang="en-GB" i="1" dirty="0"/>
            </a:br>
            <a:r>
              <a:rPr lang="en-GB" i="1" dirty="0"/>
              <a:t>jk525@student.le.ac.uk</a:t>
            </a:r>
          </a:p>
        </p:txBody>
      </p:sp>
      <p:pic>
        <p:nvPicPr>
          <p:cNvPr id="5" name="Picture 4">
            <a:extLst>
              <a:ext uri="{FF2B5EF4-FFF2-40B4-BE49-F238E27FC236}">
                <a16:creationId xmlns:a16="http://schemas.microsoft.com/office/drawing/2014/main" id="{3FF451FA-5436-ADFE-5C3E-95FB40CCD1F6}"/>
              </a:ext>
            </a:extLst>
          </p:cNvPr>
          <p:cNvPicPr>
            <a:picLocks noChangeAspect="1"/>
          </p:cNvPicPr>
          <p:nvPr/>
        </p:nvPicPr>
        <p:blipFill>
          <a:blip r:embed="rId2"/>
          <a:stretch>
            <a:fillRect/>
          </a:stretch>
        </p:blipFill>
        <p:spPr>
          <a:xfrm>
            <a:off x="1790442" y="221505"/>
            <a:ext cx="8611116" cy="1881900"/>
          </a:xfrm>
          <a:prstGeom prst="rect">
            <a:avLst/>
          </a:prstGeom>
        </p:spPr>
      </p:pic>
    </p:spTree>
    <p:extLst>
      <p:ext uri="{BB962C8B-B14F-4D97-AF65-F5344CB8AC3E}">
        <p14:creationId xmlns:p14="http://schemas.microsoft.com/office/powerpoint/2010/main" val="1891838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AAF55D2-24BB-161E-8661-29B8AF2058D1}"/>
              </a:ext>
            </a:extLst>
          </p:cNvPr>
          <p:cNvSpPr>
            <a:spLocks noGrp="1"/>
          </p:cNvSpPr>
          <p:nvPr>
            <p:ph type="title"/>
          </p:nvPr>
        </p:nvSpPr>
        <p:spPr>
          <a:xfrm>
            <a:off x="838200" y="365125"/>
            <a:ext cx="10515600" cy="1325563"/>
          </a:xfrm>
        </p:spPr>
        <p:txBody>
          <a:bodyPr>
            <a:normAutofit/>
          </a:bodyPr>
          <a:lstStyle/>
          <a:p>
            <a:r>
              <a:rPr lang="en-GB" sz="5400"/>
              <a:t>Project Background</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250117F0-5C9D-7982-D4A7-F7BD8DA48922}"/>
              </a:ext>
            </a:extLst>
          </p:cNvPr>
          <p:cNvSpPr>
            <a:spLocks noGrp="1"/>
          </p:cNvSpPr>
          <p:nvPr>
            <p:ph idx="1"/>
          </p:nvPr>
        </p:nvSpPr>
        <p:spPr>
          <a:xfrm>
            <a:off x="838200" y="1929384"/>
            <a:ext cx="10515600" cy="4251960"/>
          </a:xfrm>
        </p:spPr>
        <p:txBody>
          <a:bodyPr>
            <a:normAutofit/>
          </a:bodyPr>
          <a:lstStyle/>
          <a:p>
            <a:r>
              <a:rPr lang="en-GB" sz="2200" dirty="0"/>
              <a:t>IBM </a:t>
            </a:r>
            <a:r>
              <a:rPr lang="en-GB" sz="2200" dirty="0" err="1"/>
              <a:t>Skillsbuild</a:t>
            </a:r>
            <a:r>
              <a:rPr lang="en-GB" sz="2200" dirty="0"/>
              <a:t> is a free educational platform teaching valuable skills in computing and technology.</a:t>
            </a:r>
          </a:p>
        </p:txBody>
      </p:sp>
    </p:spTree>
    <p:extLst>
      <p:ext uri="{BB962C8B-B14F-4D97-AF65-F5344CB8AC3E}">
        <p14:creationId xmlns:p14="http://schemas.microsoft.com/office/powerpoint/2010/main" val="17818639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0837D9F-401C-41BA-3B1E-7DA6AFC30779}"/>
              </a:ext>
            </a:extLst>
          </p:cNvPr>
          <p:cNvSpPr>
            <a:spLocks noGrp="1"/>
          </p:cNvSpPr>
          <p:nvPr>
            <p:ph type="title"/>
          </p:nvPr>
        </p:nvSpPr>
        <p:spPr>
          <a:xfrm>
            <a:off x="838200" y="365125"/>
            <a:ext cx="10515600" cy="1325563"/>
          </a:xfrm>
        </p:spPr>
        <p:txBody>
          <a:bodyPr>
            <a:normAutofit/>
          </a:bodyPr>
          <a:lstStyle/>
          <a:p>
            <a:r>
              <a:rPr lang="en-GB" sz="5400"/>
              <a:t>The problem we want to solve…</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A9150C24-2F11-8BDC-6303-F66FD44C7B79}"/>
              </a:ext>
            </a:extLst>
          </p:cNvPr>
          <p:cNvSpPr>
            <a:spLocks noGrp="1"/>
          </p:cNvSpPr>
          <p:nvPr>
            <p:ph idx="1"/>
          </p:nvPr>
        </p:nvSpPr>
        <p:spPr>
          <a:xfrm>
            <a:off x="838200" y="1929384"/>
            <a:ext cx="10515600" cy="4251960"/>
          </a:xfrm>
        </p:spPr>
        <p:txBody>
          <a:bodyPr>
            <a:normAutofit/>
          </a:bodyPr>
          <a:lstStyle/>
          <a:p>
            <a:pPr marL="0" indent="0">
              <a:buNone/>
            </a:pPr>
            <a:r>
              <a:rPr lang="en-GB" sz="2200" dirty="0"/>
              <a:t>There is no denying that IBM </a:t>
            </a:r>
            <a:r>
              <a:rPr lang="en-GB" sz="2200" dirty="0" err="1"/>
              <a:t>Skillsbuild</a:t>
            </a:r>
            <a:r>
              <a:rPr lang="en-GB" sz="2200" dirty="0"/>
              <a:t> offers excellent content but:</a:t>
            </a:r>
          </a:p>
          <a:p>
            <a:r>
              <a:rPr lang="en-GB" sz="2200" dirty="0"/>
              <a:t>Progress on IBM </a:t>
            </a:r>
            <a:r>
              <a:rPr lang="en-GB" sz="2200" dirty="0" err="1"/>
              <a:t>Skillsbuild</a:t>
            </a:r>
            <a:r>
              <a:rPr lang="en-GB" sz="2200" dirty="0"/>
              <a:t> feels invisible, making it hard for learners to stay motivated</a:t>
            </a:r>
          </a:p>
          <a:p>
            <a:r>
              <a:rPr lang="en-GB" sz="2200" dirty="0"/>
              <a:t>There is no clear sense of achievement which limits ongoing engagement</a:t>
            </a:r>
          </a:p>
          <a:p>
            <a:r>
              <a:rPr lang="en-GB" sz="2200" dirty="0"/>
              <a:t>There is little social connection, making the learning experience feel isolated</a:t>
            </a:r>
          </a:p>
          <a:p>
            <a:pPr marL="0" indent="0">
              <a:buNone/>
            </a:pPr>
            <a:endParaRPr lang="en-GB" sz="2200" dirty="0"/>
          </a:p>
        </p:txBody>
      </p:sp>
    </p:spTree>
    <p:extLst>
      <p:ext uri="{BB962C8B-B14F-4D97-AF65-F5344CB8AC3E}">
        <p14:creationId xmlns:p14="http://schemas.microsoft.com/office/powerpoint/2010/main" val="39014474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7A6A637-49ED-029E-F3CF-2CFABF7E17DB}"/>
              </a:ext>
            </a:extLst>
          </p:cNvPr>
          <p:cNvSpPr>
            <a:spLocks noGrp="1"/>
          </p:cNvSpPr>
          <p:nvPr>
            <p:ph type="title"/>
          </p:nvPr>
        </p:nvSpPr>
        <p:spPr>
          <a:xfrm>
            <a:off x="838200" y="365125"/>
            <a:ext cx="10515600" cy="1325563"/>
          </a:xfrm>
        </p:spPr>
        <p:txBody>
          <a:bodyPr>
            <a:normAutofit/>
          </a:bodyPr>
          <a:lstStyle/>
          <a:p>
            <a:r>
              <a:rPr lang="en-GB" sz="5400"/>
              <a:t>The solution!</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75FB7A9-0739-0DDE-7E0D-B777C3A90B95}"/>
              </a:ext>
            </a:extLst>
          </p:cNvPr>
          <p:cNvSpPr>
            <a:spLocks noGrp="1"/>
          </p:cNvSpPr>
          <p:nvPr>
            <p:ph idx="1"/>
          </p:nvPr>
        </p:nvSpPr>
        <p:spPr>
          <a:xfrm>
            <a:off x="838200" y="1929384"/>
            <a:ext cx="10515600" cy="4251960"/>
          </a:xfrm>
        </p:spPr>
        <p:txBody>
          <a:bodyPr>
            <a:normAutofit/>
          </a:bodyPr>
          <a:lstStyle/>
          <a:p>
            <a:r>
              <a:rPr lang="en-GB" sz="2400" dirty="0"/>
              <a:t>Our gamification project was designed to make the learning experience more engaging, interactive, and rewarding for students through a range of features, including:</a:t>
            </a:r>
          </a:p>
          <a:p>
            <a:pPr marL="0" indent="0">
              <a:buNone/>
            </a:pPr>
            <a:r>
              <a:rPr lang="en-GB" sz="2400" dirty="0"/>
              <a:t>	</a:t>
            </a:r>
            <a:r>
              <a:rPr lang="en-GB" sz="2400" b="1" dirty="0"/>
              <a:t>.</a:t>
            </a:r>
            <a:r>
              <a:rPr lang="en-GB" sz="2400" dirty="0"/>
              <a:t> </a:t>
            </a:r>
            <a:r>
              <a:rPr lang="en-GB" sz="2200" dirty="0"/>
              <a:t>A Global Leaderboard and Friend Leaderboard</a:t>
            </a:r>
          </a:p>
          <a:p>
            <a:pPr marL="0" indent="0">
              <a:buNone/>
            </a:pPr>
            <a:r>
              <a:rPr lang="en-GB" sz="2200" dirty="0"/>
              <a:t>	</a:t>
            </a:r>
            <a:r>
              <a:rPr lang="en-GB" sz="2200" b="1" dirty="0"/>
              <a:t>.</a:t>
            </a:r>
            <a:r>
              <a:rPr lang="en-GB" sz="2200" dirty="0"/>
              <a:t> Personal Learning Goals and Progress tracking</a:t>
            </a:r>
          </a:p>
          <a:p>
            <a:pPr marL="0" indent="0">
              <a:buNone/>
            </a:pPr>
            <a:r>
              <a:rPr lang="en-GB" sz="2200" dirty="0"/>
              <a:t>	</a:t>
            </a:r>
            <a:r>
              <a:rPr lang="en-GB" sz="2200" b="1" dirty="0"/>
              <a:t>.</a:t>
            </a:r>
            <a:r>
              <a:rPr lang="en-GB" sz="2200" dirty="0"/>
              <a:t> A Credit System with purchasable Avatars</a:t>
            </a:r>
          </a:p>
          <a:p>
            <a:pPr marL="0" indent="0">
              <a:buNone/>
            </a:pPr>
            <a:r>
              <a:rPr lang="en-GB" sz="2200" dirty="0"/>
              <a:t>	</a:t>
            </a:r>
            <a:r>
              <a:rPr lang="en-GB" sz="2200" b="1" dirty="0"/>
              <a:t>. </a:t>
            </a:r>
            <a:r>
              <a:rPr lang="en-GB" sz="2200" dirty="0"/>
              <a:t>Unlockable Badges and ranks</a:t>
            </a:r>
          </a:p>
          <a:p>
            <a:endParaRPr lang="en-GB" sz="2200" dirty="0"/>
          </a:p>
        </p:txBody>
      </p:sp>
    </p:spTree>
    <p:extLst>
      <p:ext uri="{BB962C8B-B14F-4D97-AF65-F5344CB8AC3E}">
        <p14:creationId xmlns:p14="http://schemas.microsoft.com/office/powerpoint/2010/main" val="86741244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EBB5D96-1408-965E-CEB8-779727515350}"/>
              </a:ext>
            </a:extLst>
          </p:cNvPr>
          <p:cNvSpPr>
            <a:spLocks noGrp="1"/>
          </p:cNvSpPr>
          <p:nvPr>
            <p:ph type="title"/>
          </p:nvPr>
        </p:nvSpPr>
        <p:spPr>
          <a:xfrm>
            <a:off x="630936" y="502920"/>
            <a:ext cx="3419856" cy="1463040"/>
          </a:xfrm>
        </p:spPr>
        <p:txBody>
          <a:bodyPr anchor="ctr">
            <a:normAutofit/>
          </a:bodyPr>
          <a:lstStyle/>
          <a:p>
            <a:r>
              <a:rPr lang="en-GB" sz="3400" dirty="0"/>
              <a:t>Purpose: Personal Learning goals</a:t>
            </a:r>
          </a:p>
        </p:txBody>
      </p:sp>
      <p:sp>
        <p:nvSpPr>
          <p:cNvPr id="48"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B9125B94-33D4-128D-4E5E-C9F46278F501}"/>
              </a:ext>
            </a:extLst>
          </p:cNvPr>
          <p:cNvSpPr>
            <a:spLocks noGrp="1"/>
          </p:cNvSpPr>
          <p:nvPr>
            <p:ph idx="1"/>
          </p:nvPr>
        </p:nvSpPr>
        <p:spPr>
          <a:xfrm>
            <a:off x="4654295" y="502920"/>
            <a:ext cx="6894576" cy="1463040"/>
          </a:xfrm>
        </p:spPr>
        <p:txBody>
          <a:bodyPr anchor="ctr">
            <a:normAutofit/>
          </a:bodyPr>
          <a:lstStyle/>
          <a:p>
            <a:r>
              <a:rPr lang="en-GB" sz="1500" b="1"/>
              <a:t>Focus and Motivation:</a:t>
            </a:r>
            <a:br>
              <a:rPr lang="en-GB" sz="1500"/>
            </a:br>
            <a:r>
              <a:rPr lang="en-GB" sz="1500"/>
              <a:t>Personal Learning goals gives the student a clear target to work towards.</a:t>
            </a:r>
          </a:p>
          <a:p>
            <a:r>
              <a:rPr lang="en-GB" sz="1500" b="1"/>
              <a:t>Sense of Progress:</a:t>
            </a:r>
            <a:br>
              <a:rPr lang="en-GB" sz="1500"/>
            </a:br>
            <a:r>
              <a:rPr lang="en-GB" sz="1500"/>
              <a:t>Progress bars show students how close they are to achieving their goals.</a:t>
            </a:r>
          </a:p>
          <a:p>
            <a:endParaRPr lang="en-GB" sz="1500"/>
          </a:p>
        </p:txBody>
      </p:sp>
      <p:pic>
        <p:nvPicPr>
          <p:cNvPr id="5" name="Picture 4" descr="A screenshot of a dashboard&#10;&#10;AI-generated content may be incorrect.">
            <a:extLst>
              <a:ext uri="{FF2B5EF4-FFF2-40B4-BE49-F238E27FC236}">
                <a16:creationId xmlns:a16="http://schemas.microsoft.com/office/drawing/2014/main" id="{D0896076-A23D-A604-65E5-5CABFFD3D35B}"/>
              </a:ext>
            </a:extLst>
          </p:cNvPr>
          <p:cNvPicPr>
            <a:picLocks noChangeAspect="1"/>
          </p:cNvPicPr>
          <p:nvPr/>
        </p:nvPicPr>
        <p:blipFill>
          <a:blip r:embed="rId2"/>
          <a:stretch>
            <a:fillRect/>
          </a:stretch>
        </p:blipFill>
        <p:spPr>
          <a:xfrm>
            <a:off x="630936" y="3042345"/>
            <a:ext cx="10917936" cy="2456533"/>
          </a:xfrm>
          <a:prstGeom prst="rect">
            <a:avLst/>
          </a:prstGeom>
        </p:spPr>
      </p:pic>
    </p:spTree>
    <p:extLst>
      <p:ext uri="{BB962C8B-B14F-4D97-AF65-F5344CB8AC3E}">
        <p14:creationId xmlns:p14="http://schemas.microsoft.com/office/powerpoint/2010/main" val="12230657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0A0387-6CEB-CD67-BA23-0832E0EF6353}"/>
              </a:ext>
            </a:extLst>
          </p:cNvPr>
          <p:cNvSpPr>
            <a:spLocks noGrp="1"/>
          </p:cNvSpPr>
          <p:nvPr>
            <p:ph type="title"/>
          </p:nvPr>
        </p:nvSpPr>
        <p:spPr>
          <a:xfrm>
            <a:off x="630936" y="502920"/>
            <a:ext cx="3419856" cy="1463040"/>
          </a:xfrm>
        </p:spPr>
        <p:txBody>
          <a:bodyPr anchor="ctr">
            <a:normAutofit/>
          </a:bodyPr>
          <a:lstStyle/>
          <a:p>
            <a:r>
              <a:rPr lang="en-GB" sz="4800"/>
              <a:t>Purpose: Leaderboard </a:t>
            </a:r>
          </a:p>
        </p:txBody>
      </p:sp>
      <p:sp>
        <p:nvSpPr>
          <p:cNvPr id="19"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3487389-48B5-B12D-66A4-5490E4A27830}"/>
              </a:ext>
            </a:extLst>
          </p:cNvPr>
          <p:cNvSpPr>
            <a:spLocks noGrp="1"/>
          </p:cNvSpPr>
          <p:nvPr>
            <p:ph idx="1"/>
          </p:nvPr>
        </p:nvSpPr>
        <p:spPr>
          <a:xfrm>
            <a:off x="4654295" y="502920"/>
            <a:ext cx="6894576" cy="1463040"/>
          </a:xfrm>
        </p:spPr>
        <p:txBody>
          <a:bodyPr anchor="ctr">
            <a:normAutofit/>
          </a:bodyPr>
          <a:lstStyle/>
          <a:p>
            <a:r>
              <a:rPr lang="en-GB" sz="1500" b="1"/>
              <a:t>Competition:</a:t>
            </a:r>
            <a:br>
              <a:rPr lang="en-GB" sz="1500"/>
            </a:br>
            <a:r>
              <a:rPr lang="en-GB" sz="1500"/>
              <a:t>Global leaderboard encourages students to push themselves to climb their rank</a:t>
            </a:r>
          </a:p>
          <a:p>
            <a:r>
              <a:rPr lang="en-GB" sz="1500" b="1"/>
              <a:t>Social connection:</a:t>
            </a:r>
            <a:br>
              <a:rPr lang="en-GB" sz="1500"/>
            </a:br>
            <a:r>
              <a:rPr lang="en-GB" sz="1500"/>
              <a:t>Friends' leaderboard allows students to compare learning progress in a smaller, more supportive group</a:t>
            </a:r>
          </a:p>
        </p:txBody>
      </p:sp>
      <p:pic>
        <p:nvPicPr>
          <p:cNvPr id="5" name="Picture 4">
            <a:extLst>
              <a:ext uri="{FF2B5EF4-FFF2-40B4-BE49-F238E27FC236}">
                <a16:creationId xmlns:a16="http://schemas.microsoft.com/office/drawing/2014/main" id="{BC506336-4D95-617B-392D-3548EEFBBAED}"/>
              </a:ext>
            </a:extLst>
          </p:cNvPr>
          <p:cNvPicPr>
            <a:picLocks noChangeAspect="1"/>
          </p:cNvPicPr>
          <p:nvPr/>
        </p:nvPicPr>
        <p:blipFill>
          <a:blip r:embed="rId2"/>
          <a:stretch>
            <a:fillRect/>
          </a:stretch>
        </p:blipFill>
        <p:spPr>
          <a:xfrm>
            <a:off x="845727" y="2290936"/>
            <a:ext cx="10488354" cy="3959352"/>
          </a:xfrm>
          <a:prstGeom prst="rect">
            <a:avLst/>
          </a:prstGeom>
        </p:spPr>
      </p:pic>
    </p:spTree>
    <p:extLst>
      <p:ext uri="{BB962C8B-B14F-4D97-AF65-F5344CB8AC3E}">
        <p14:creationId xmlns:p14="http://schemas.microsoft.com/office/powerpoint/2010/main" val="18833994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32AEEBC8-9D30-42EF-95F2-386C2653FB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946F267-F483-2403-AD08-3CB3433CF44F}"/>
              </a:ext>
            </a:extLst>
          </p:cNvPr>
          <p:cNvSpPr>
            <a:spLocks noGrp="1"/>
          </p:cNvSpPr>
          <p:nvPr>
            <p:ph type="title"/>
          </p:nvPr>
        </p:nvSpPr>
        <p:spPr>
          <a:xfrm>
            <a:off x="630936" y="502920"/>
            <a:ext cx="3419856" cy="1463040"/>
          </a:xfrm>
        </p:spPr>
        <p:txBody>
          <a:bodyPr anchor="ctr">
            <a:noAutofit/>
          </a:bodyPr>
          <a:lstStyle/>
          <a:p>
            <a:r>
              <a:rPr lang="en-GB" sz="3400" dirty="0"/>
              <a:t>Purpose: </a:t>
            </a:r>
            <a:br>
              <a:rPr lang="en-GB" sz="3400" dirty="0"/>
            </a:br>
            <a:r>
              <a:rPr lang="en-GB" sz="3400" dirty="0"/>
              <a:t>Credits and Avatars</a:t>
            </a:r>
          </a:p>
        </p:txBody>
      </p:sp>
      <p:sp>
        <p:nvSpPr>
          <p:cNvPr id="19" name="sketch line">
            <a:extLst>
              <a:ext uri="{FF2B5EF4-FFF2-40B4-BE49-F238E27FC236}">
                <a16:creationId xmlns:a16="http://schemas.microsoft.com/office/drawing/2014/main" id="{2E92FA66-67D7-4CB4-94D3-E643A9AD4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3566159" y="1225296"/>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718E50AB-90E5-DB7D-EF45-9102AAB7578D}"/>
              </a:ext>
            </a:extLst>
          </p:cNvPr>
          <p:cNvSpPr>
            <a:spLocks noGrp="1"/>
          </p:cNvSpPr>
          <p:nvPr>
            <p:ph idx="1"/>
          </p:nvPr>
        </p:nvSpPr>
        <p:spPr>
          <a:xfrm>
            <a:off x="4654295" y="502920"/>
            <a:ext cx="6894576" cy="1463040"/>
          </a:xfrm>
        </p:spPr>
        <p:txBody>
          <a:bodyPr anchor="ctr">
            <a:normAutofit/>
          </a:bodyPr>
          <a:lstStyle/>
          <a:p>
            <a:r>
              <a:rPr lang="en-GB" sz="1500" b="1"/>
              <a:t>Rewards Progress</a:t>
            </a:r>
            <a:br>
              <a:rPr lang="en-GB" sz="1500"/>
            </a:br>
            <a:r>
              <a:rPr lang="en-GB" sz="1500"/>
              <a:t>Students earn credits for completing courses, turning work into tangible reward</a:t>
            </a:r>
          </a:p>
          <a:p>
            <a:r>
              <a:rPr lang="en-GB" sz="1500" b="1"/>
              <a:t>Fun and Engagement</a:t>
            </a:r>
            <a:br>
              <a:rPr lang="en-GB" sz="1500"/>
            </a:br>
            <a:r>
              <a:rPr lang="en-GB" sz="1500"/>
              <a:t>Customizing avatars makes the platform more fun and personal, improving student satisfaction.</a:t>
            </a:r>
          </a:p>
          <a:p>
            <a:endParaRPr lang="en-GB" sz="1500"/>
          </a:p>
        </p:txBody>
      </p:sp>
      <p:pic>
        <p:nvPicPr>
          <p:cNvPr id="5" name="Picture 4">
            <a:extLst>
              <a:ext uri="{FF2B5EF4-FFF2-40B4-BE49-F238E27FC236}">
                <a16:creationId xmlns:a16="http://schemas.microsoft.com/office/drawing/2014/main" id="{D7D7E7CD-04FC-E28D-53C0-BC2FC0F447D9}"/>
              </a:ext>
            </a:extLst>
          </p:cNvPr>
          <p:cNvPicPr>
            <a:picLocks noChangeAspect="1"/>
          </p:cNvPicPr>
          <p:nvPr/>
        </p:nvPicPr>
        <p:blipFill>
          <a:blip r:embed="rId2"/>
          <a:stretch>
            <a:fillRect/>
          </a:stretch>
        </p:blipFill>
        <p:spPr>
          <a:xfrm>
            <a:off x="1786260" y="2290936"/>
            <a:ext cx="8607288" cy="3959352"/>
          </a:xfrm>
          <a:prstGeom prst="rect">
            <a:avLst/>
          </a:prstGeom>
        </p:spPr>
      </p:pic>
    </p:spTree>
    <p:extLst>
      <p:ext uri="{BB962C8B-B14F-4D97-AF65-F5344CB8AC3E}">
        <p14:creationId xmlns:p14="http://schemas.microsoft.com/office/powerpoint/2010/main" val="7899011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3C50EC-2850-3212-06B8-9AC0E9679484}"/>
              </a:ext>
            </a:extLst>
          </p:cNvPr>
          <p:cNvSpPr>
            <a:spLocks noGrp="1"/>
          </p:cNvSpPr>
          <p:nvPr>
            <p:ph type="title"/>
          </p:nvPr>
        </p:nvSpPr>
        <p:spPr/>
        <p:txBody>
          <a:bodyPr/>
          <a:lstStyle/>
          <a:p>
            <a:r>
              <a:rPr lang="en-GB" dirty="0"/>
              <a:t>Impact on Students</a:t>
            </a:r>
          </a:p>
        </p:txBody>
      </p:sp>
      <p:sp>
        <p:nvSpPr>
          <p:cNvPr id="3" name="Content Placeholder 2">
            <a:extLst>
              <a:ext uri="{FF2B5EF4-FFF2-40B4-BE49-F238E27FC236}">
                <a16:creationId xmlns:a16="http://schemas.microsoft.com/office/drawing/2014/main" id="{724029B9-E81D-3AAC-2D69-772CEBF0E775}"/>
              </a:ext>
            </a:extLst>
          </p:cNvPr>
          <p:cNvSpPr>
            <a:spLocks noGrp="1"/>
          </p:cNvSpPr>
          <p:nvPr>
            <p:ph idx="1"/>
          </p:nvPr>
        </p:nvSpPr>
        <p:spPr/>
        <p:txBody>
          <a:bodyPr/>
          <a:lstStyle/>
          <a:p>
            <a:pPr marL="0" indent="0">
              <a:buNone/>
            </a:pPr>
            <a:r>
              <a:rPr lang="en-GB" dirty="0"/>
              <a:t>These features:</a:t>
            </a:r>
          </a:p>
          <a:p>
            <a:pPr marL="0" indent="0">
              <a:buNone/>
            </a:pPr>
            <a:endParaRPr lang="en-GB" dirty="0"/>
          </a:p>
          <a:p>
            <a:r>
              <a:rPr lang="en-GB" dirty="0"/>
              <a:t>Make learning more engaging and motivating</a:t>
            </a:r>
          </a:p>
          <a:p>
            <a:r>
              <a:rPr lang="en-GB" dirty="0"/>
              <a:t>Encourages self-paced leaning</a:t>
            </a:r>
          </a:p>
          <a:p>
            <a:r>
              <a:rPr lang="en-GB" dirty="0"/>
              <a:t>Builds competition and social connection</a:t>
            </a:r>
          </a:p>
          <a:p>
            <a:r>
              <a:rPr lang="en-GB" dirty="0"/>
              <a:t>Creates a sense of personal achievement</a:t>
            </a:r>
          </a:p>
          <a:p>
            <a:endParaRPr lang="en-GB" dirty="0"/>
          </a:p>
          <a:p>
            <a:pPr marL="0" indent="0">
              <a:buNone/>
            </a:pPr>
            <a:r>
              <a:rPr lang="en-GB" dirty="0"/>
              <a:t>Overall, elevating the IBM </a:t>
            </a:r>
            <a:r>
              <a:rPr lang="en-GB" dirty="0" err="1"/>
              <a:t>Skillsbuild</a:t>
            </a:r>
            <a:r>
              <a:rPr lang="en-GB" dirty="0"/>
              <a:t> platform.</a:t>
            </a:r>
          </a:p>
        </p:txBody>
      </p:sp>
    </p:spTree>
    <p:extLst>
      <p:ext uri="{BB962C8B-B14F-4D97-AF65-F5344CB8AC3E}">
        <p14:creationId xmlns:p14="http://schemas.microsoft.com/office/powerpoint/2010/main" val="13898947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99ED5833-B85B-4103-8A3B-CAB0308E6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4D069CB-16C2-4AF5-D668-15E422945B32}"/>
              </a:ext>
            </a:extLst>
          </p:cNvPr>
          <p:cNvSpPr>
            <a:spLocks noGrp="1"/>
          </p:cNvSpPr>
          <p:nvPr>
            <p:ph type="ctrTitle"/>
          </p:nvPr>
        </p:nvSpPr>
        <p:spPr>
          <a:xfrm>
            <a:off x="838200" y="365125"/>
            <a:ext cx="10515600" cy="1724932"/>
          </a:xfrm>
        </p:spPr>
        <p:txBody>
          <a:bodyPr vert="horz" lIns="91440" tIns="45720" rIns="91440" bIns="45720" rtlCol="0" anchor="ctr">
            <a:normAutofit/>
          </a:bodyPr>
          <a:lstStyle/>
          <a:p>
            <a:pPr algn="l"/>
            <a:r>
              <a:rPr lang="en-US" sz="5200" kern="1200" dirty="0">
                <a:solidFill>
                  <a:schemeClr val="tx1"/>
                </a:solidFill>
                <a:latin typeface="+mj-lt"/>
                <a:ea typeface="+mj-ea"/>
                <a:cs typeface="+mj-cs"/>
              </a:rPr>
              <a:t>Software Architecture of IBM SkillsBuild Gamification</a:t>
            </a:r>
          </a:p>
        </p:txBody>
      </p:sp>
      <p:pic>
        <p:nvPicPr>
          <p:cNvPr id="8" name="Picture 7">
            <a:extLst>
              <a:ext uri="{FF2B5EF4-FFF2-40B4-BE49-F238E27FC236}">
                <a16:creationId xmlns:a16="http://schemas.microsoft.com/office/drawing/2014/main" id="{CE16AC81-0270-F87D-221E-E628739DD965}"/>
              </a:ext>
            </a:extLst>
          </p:cNvPr>
          <p:cNvPicPr>
            <a:picLocks noChangeAspect="1"/>
          </p:cNvPicPr>
          <p:nvPr/>
        </p:nvPicPr>
        <p:blipFill>
          <a:blip r:embed="rId2"/>
          <a:stretch>
            <a:fillRect/>
          </a:stretch>
        </p:blipFill>
        <p:spPr>
          <a:xfrm>
            <a:off x="181234" y="2695465"/>
            <a:ext cx="5828261" cy="3278396"/>
          </a:xfrm>
          <a:prstGeom prst="rect">
            <a:avLst/>
          </a:prstGeom>
        </p:spPr>
      </p:pic>
      <p:pic>
        <p:nvPicPr>
          <p:cNvPr id="3" name="Picture 2">
            <a:extLst>
              <a:ext uri="{FF2B5EF4-FFF2-40B4-BE49-F238E27FC236}">
                <a16:creationId xmlns:a16="http://schemas.microsoft.com/office/drawing/2014/main" id="{CAE5EB8F-17D1-CFCB-BCC3-F1CD0B7A699F}"/>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6182505" y="3246827"/>
            <a:ext cx="5828261" cy="2175672"/>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98474F3-BD47-662D-4B82-DFD3511C2339}"/>
              </a:ext>
            </a:extLst>
          </p:cNvPr>
          <p:cNvSpPr txBox="1"/>
          <p:nvPr/>
        </p:nvSpPr>
        <p:spPr>
          <a:xfrm>
            <a:off x="936172" y="2085850"/>
            <a:ext cx="4484914" cy="369332"/>
          </a:xfrm>
          <a:prstGeom prst="rect">
            <a:avLst/>
          </a:prstGeom>
          <a:noFill/>
        </p:spPr>
        <p:txBody>
          <a:bodyPr wrap="square" rtlCol="0">
            <a:spAutoFit/>
          </a:bodyPr>
          <a:lstStyle/>
          <a:p>
            <a:r>
              <a:rPr lang="en-GB" i="1" dirty="0"/>
              <a:t>Alex George ag666@student.le.ac.uk</a:t>
            </a:r>
          </a:p>
        </p:txBody>
      </p:sp>
    </p:spTree>
    <p:extLst>
      <p:ext uri="{BB962C8B-B14F-4D97-AF65-F5344CB8AC3E}">
        <p14:creationId xmlns:p14="http://schemas.microsoft.com/office/powerpoint/2010/main" val="11082444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0" name="Rectangle 2059">
            <a:extLst>
              <a:ext uri="{FF2B5EF4-FFF2-40B4-BE49-F238E27FC236}">
                <a16:creationId xmlns:a16="http://schemas.microsoft.com/office/drawing/2014/main" id="{0B9EE3F3-89B7-43C3-8651-C4C9683099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FD5B8E7-7DB1-4E81-B3AA-E81FE5910AD3}"/>
              </a:ext>
            </a:extLst>
          </p:cNvPr>
          <p:cNvSpPr>
            <a:spLocks noGrp="1"/>
          </p:cNvSpPr>
          <p:nvPr>
            <p:ph type="title"/>
          </p:nvPr>
        </p:nvSpPr>
        <p:spPr>
          <a:xfrm>
            <a:off x="411480" y="991443"/>
            <a:ext cx="4443154" cy="1087819"/>
          </a:xfrm>
        </p:spPr>
        <p:txBody>
          <a:bodyPr anchor="b">
            <a:normAutofit/>
          </a:bodyPr>
          <a:lstStyle/>
          <a:p>
            <a:r>
              <a:rPr lang="en-GB" sz="2600" dirty="0"/>
              <a:t>What we considered when choosing the technology to use</a:t>
            </a:r>
          </a:p>
        </p:txBody>
      </p:sp>
      <p:sp>
        <p:nvSpPr>
          <p:cNvPr id="2061" name="Rectangle 2060">
            <a:extLst>
              <a:ext uri="{FF2B5EF4-FFF2-40B4-BE49-F238E27FC236}">
                <a16:creationId xmlns:a16="http://schemas.microsoft.com/office/drawing/2014/main" id="{33AE4636-AEEC-45D6-84D4-7AC2DA48EC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49223" y="387939"/>
            <a:ext cx="73152" cy="54864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59" name="Rectangle 2058">
            <a:extLst>
              <a:ext uri="{FF2B5EF4-FFF2-40B4-BE49-F238E27FC236}">
                <a16:creationId xmlns:a16="http://schemas.microsoft.com/office/drawing/2014/main" id="{8D9CE0F4-2EB2-4F1F-8AAC-DB3571D9FE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11480" y="2285541"/>
            <a:ext cx="438912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E9872C5C-9821-FBD9-7C0F-42AA99C1347E}"/>
              </a:ext>
            </a:extLst>
          </p:cNvPr>
          <p:cNvSpPr>
            <a:spLocks noGrp="1"/>
          </p:cNvSpPr>
          <p:nvPr>
            <p:ph idx="1"/>
          </p:nvPr>
        </p:nvSpPr>
        <p:spPr>
          <a:xfrm>
            <a:off x="411480" y="2684095"/>
            <a:ext cx="4443154" cy="3492868"/>
          </a:xfrm>
        </p:spPr>
        <p:txBody>
          <a:bodyPr>
            <a:normAutofit/>
          </a:bodyPr>
          <a:lstStyle/>
          <a:p>
            <a:r>
              <a:rPr lang="en-GB" sz="1800" dirty="0"/>
              <a:t>Familiarity</a:t>
            </a:r>
          </a:p>
          <a:p>
            <a:r>
              <a:rPr lang="en-GB" sz="1800" dirty="0"/>
              <a:t>Ease of Use</a:t>
            </a:r>
          </a:p>
          <a:p>
            <a:r>
              <a:rPr lang="en-GB" sz="1800" dirty="0"/>
              <a:t>Documentation available</a:t>
            </a:r>
          </a:p>
        </p:txBody>
      </p:sp>
      <p:pic>
        <p:nvPicPr>
          <p:cNvPr id="2050" name="Picture 2" descr="The Choices We Face - Chief Mom Officer">
            <a:extLst>
              <a:ext uri="{FF2B5EF4-FFF2-40B4-BE49-F238E27FC236}">
                <a16:creationId xmlns:a16="http://schemas.microsoft.com/office/drawing/2014/main" id="{5D3E5344-1153-5967-06EB-09C4AC47D6E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385816" y="833204"/>
            <a:ext cx="6440424" cy="5136238"/>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Django Community | Django">
            <a:extLst>
              <a:ext uri="{FF2B5EF4-FFF2-40B4-BE49-F238E27FC236}">
                <a16:creationId xmlns:a16="http://schemas.microsoft.com/office/drawing/2014/main" id="{80AB8312-A169-CCBF-677B-2DB5AAE6393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136337" y="1801018"/>
            <a:ext cx="894317" cy="309842"/>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00675352-F108-373C-BC28-7C5FC888AE6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396414" y="1750458"/>
            <a:ext cx="1277721" cy="328804"/>
          </a:xfrm>
          <a:prstGeom prst="rect">
            <a:avLst/>
          </a:prstGeom>
          <a:noFill/>
          <a:extLst>
            <a:ext uri="{909E8E84-426E-40DD-AFC4-6F175D3DCCD1}">
              <a14:hiddenFill xmlns:a14="http://schemas.microsoft.com/office/drawing/2010/main">
                <a:solidFill>
                  <a:srgbClr val="FFFFFF"/>
                </a:solidFill>
              </a14:hiddenFill>
            </a:ext>
          </a:extLst>
        </p:spPr>
      </p:pic>
      <p:pic>
        <p:nvPicPr>
          <p:cNvPr id="2058" name="Picture 10">
            <a:extLst>
              <a:ext uri="{FF2B5EF4-FFF2-40B4-BE49-F238E27FC236}">
                <a16:creationId xmlns:a16="http://schemas.microsoft.com/office/drawing/2014/main" id="{A49F728F-67A6-7BB2-F516-B394F4BB71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689908" y="1894018"/>
            <a:ext cx="879475" cy="7830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288057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81" name="Rectangle 3080">
            <a:extLst>
              <a:ext uri="{FF2B5EF4-FFF2-40B4-BE49-F238E27FC236}">
                <a16:creationId xmlns:a16="http://schemas.microsoft.com/office/drawing/2014/main" id="{99F1FFA9-D672-408C-9220-ADEEC6ABD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3BE3286-4BFA-3582-ED8E-32071E96FEDD}"/>
              </a:ext>
            </a:extLst>
          </p:cNvPr>
          <p:cNvSpPr>
            <a:spLocks noGrp="1"/>
          </p:cNvSpPr>
          <p:nvPr>
            <p:ph type="title"/>
          </p:nvPr>
        </p:nvSpPr>
        <p:spPr>
          <a:xfrm>
            <a:off x="838201" y="365125"/>
            <a:ext cx="3816095" cy="1938076"/>
          </a:xfrm>
        </p:spPr>
        <p:txBody>
          <a:bodyPr>
            <a:normAutofit/>
          </a:bodyPr>
          <a:lstStyle/>
          <a:p>
            <a:r>
              <a:rPr lang="en-GB" dirty="0"/>
              <a:t>Backend: Spring and MySQL</a:t>
            </a:r>
          </a:p>
        </p:txBody>
      </p:sp>
      <p:sp>
        <p:nvSpPr>
          <p:cNvPr id="3" name="Content Placeholder 2">
            <a:extLst>
              <a:ext uri="{FF2B5EF4-FFF2-40B4-BE49-F238E27FC236}">
                <a16:creationId xmlns:a16="http://schemas.microsoft.com/office/drawing/2014/main" id="{EC507465-9B3F-D449-72E3-942238B05E2F}"/>
              </a:ext>
            </a:extLst>
          </p:cNvPr>
          <p:cNvSpPr>
            <a:spLocks noGrp="1"/>
          </p:cNvSpPr>
          <p:nvPr>
            <p:ph idx="1"/>
          </p:nvPr>
        </p:nvSpPr>
        <p:spPr>
          <a:xfrm>
            <a:off x="838201" y="2482589"/>
            <a:ext cx="3816096" cy="3694373"/>
          </a:xfrm>
        </p:spPr>
        <p:txBody>
          <a:bodyPr>
            <a:normAutofit lnSpcReduction="10000"/>
          </a:bodyPr>
          <a:lstStyle/>
          <a:p>
            <a:r>
              <a:rPr lang="en-GB" sz="2000" dirty="0"/>
              <a:t>Spring Boot / Spring MVC – handling controller endpoints</a:t>
            </a:r>
          </a:p>
          <a:p>
            <a:r>
              <a:rPr lang="en-GB" sz="2000" dirty="0"/>
              <a:t>MySQL for the database</a:t>
            </a:r>
          </a:p>
          <a:p>
            <a:r>
              <a:rPr lang="en-GB" sz="2000" dirty="0"/>
              <a:t>Spring has good controller architecture</a:t>
            </a:r>
          </a:p>
          <a:p>
            <a:r>
              <a:rPr lang="en-GB" sz="2000" dirty="0"/>
              <a:t>Familiar with Spring from previous modules – faster development, can better make progress during the sprint</a:t>
            </a:r>
          </a:p>
          <a:p>
            <a:r>
              <a:rPr lang="en-GB" sz="2000" dirty="0"/>
              <a:t>OOP -&gt; Promotes code reusability e.g. in the student class</a:t>
            </a:r>
          </a:p>
        </p:txBody>
      </p:sp>
      <p:pic>
        <p:nvPicPr>
          <p:cNvPr id="3074" name="Picture 2" descr="Spring MVC: A Comprehensive Guide | by ...">
            <a:extLst>
              <a:ext uri="{FF2B5EF4-FFF2-40B4-BE49-F238E27FC236}">
                <a16:creationId xmlns:a16="http://schemas.microsoft.com/office/drawing/2014/main" id="{8A5065B7-0920-0965-1CD1-FD42FBF6FB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4727" r="1" b="1"/>
          <a:stretch/>
        </p:blipFill>
        <p:spPr bwMode="auto">
          <a:xfrm>
            <a:off x="4904316" y="-4"/>
            <a:ext cx="7287684" cy="3694372"/>
          </a:xfrm>
          <a:custGeom>
            <a:avLst/>
            <a:gdLst/>
            <a:ahLst/>
            <a:cxnLst/>
            <a:rect l="l" t="t" r="r" b="b"/>
            <a:pathLst>
              <a:path w="7287684" h="3694372">
                <a:moveTo>
                  <a:pt x="1047969" y="0"/>
                </a:moveTo>
                <a:lnTo>
                  <a:pt x="7287684" y="0"/>
                </a:lnTo>
                <a:lnTo>
                  <a:pt x="7287684" y="814388"/>
                </a:lnTo>
                <a:lnTo>
                  <a:pt x="7287684" y="3694372"/>
                </a:lnTo>
                <a:lnTo>
                  <a:pt x="471411" y="3694372"/>
                </a:lnTo>
                <a:lnTo>
                  <a:pt x="470992" y="3686621"/>
                </a:lnTo>
                <a:cubicBezTo>
                  <a:pt x="458999" y="3642419"/>
                  <a:pt x="427907" y="3602236"/>
                  <a:pt x="376383" y="3554015"/>
                </a:cubicBezTo>
                <a:cubicBezTo>
                  <a:pt x="315976" y="3500438"/>
                  <a:pt x="255568" y="3454003"/>
                  <a:pt x="170288" y="3407569"/>
                </a:cubicBezTo>
                <a:cubicBezTo>
                  <a:pt x="365723" y="3382565"/>
                  <a:pt x="163181" y="3296841"/>
                  <a:pt x="230695" y="3243263"/>
                </a:cubicBezTo>
                <a:cubicBezTo>
                  <a:pt x="369276" y="3221831"/>
                  <a:pt x="479431" y="3393282"/>
                  <a:pt x="667759" y="3343275"/>
                </a:cubicBezTo>
                <a:cubicBezTo>
                  <a:pt x="440344" y="3196828"/>
                  <a:pt x="184501" y="3150393"/>
                  <a:pt x="17493" y="2953940"/>
                </a:cubicBezTo>
                <a:cubicBezTo>
                  <a:pt x="56580" y="2911078"/>
                  <a:pt x="95667" y="2953940"/>
                  <a:pt x="127647" y="2936081"/>
                </a:cubicBezTo>
                <a:cubicBezTo>
                  <a:pt x="127647" y="2925365"/>
                  <a:pt x="500751" y="2993232"/>
                  <a:pt x="522071" y="2714625"/>
                </a:cubicBezTo>
                <a:cubicBezTo>
                  <a:pt x="529178" y="2714625"/>
                  <a:pt x="536285" y="2714625"/>
                  <a:pt x="543391" y="2703909"/>
                </a:cubicBezTo>
                <a:cubicBezTo>
                  <a:pt x="582478" y="2664619"/>
                  <a:pt x="546945" y="2571750"/>
                  <a:pt x="610905" y="2564606"/>
                </a:cubicBezTo>
                <a:cubicBezTo>
                  <a:pt x="681973" y="2557462"/>
                  <a:pt x="749487" y="2525315"/>
                  <a:pt x="824107" y="2543175"/>
                </a:cubicBezTo>
                <a:cubicBezTo>
                  <a:pt x="880961" y="2557462"/>
                  <a:pt x="941368" y="2575322"/>
                  <a:pt x="1001776" y="2575322"/>
                </a:cubicBezTo>
                <a:cubicBezTo>
                  <a:pt x="1065736" y="2575322"/>
                  <a:pt x="1154570" y="2696766"/>
                  <a:pt x="1193658" y="2536031"/>
                </a:cubicBezTo>
                <a:cubicBezTo>
                  <a:pt x="1193658" y="2528888"/>
                  <a:pt x="1303812" y="2546747"/>
                  <a:pt x="1364219" y="2553891"/>
                </a:cubicBezTo>
                <a:cubicBezTo>
                  <a:pt x="1413966" y="2561035"/>
                  <a:pt x="1474374" y="2593181"/>
                  <a:pt x="1509907" y="2528888"/>
                </a:cubicBezTo>
                <a:cubicBezTo>
                  <a:pt x="1527674" y="2489596"/>
                  <a:pt x="1442393" y="2418159"/>
                  <a:pt x="1367772" y="2411015"/>
                </a:cubicBezTo>
                <a:cubicBezTo>
                  <a:pt x="1300259" y="2403872"/>
                  <a:pt x="1232745" y="2396728"/>
                  <a:pt x="1168784" y="2411015"/>
                </a:cubicBezTo>
                <a:cubicBezTo>
                  <a:pt x="1090610" y="2428875"/>
                  <a:pt x="1047969" y="2400300"/>
                  <a:pt x="1026649" y="2336007"/>
                </a:cubicBezTo>
                <a:cubicBezTo>
                  <a:pt x="1001776" y="2268141"/>
                  <a:pt x="955582" y="2232422"/>
                  <a:pt x="891621" y="2200275"/>
                </a:cubicBezTo>
                <a:cubicBezTo>
                  <a:pt x="735273" y="2121694"/>
                  <a:pt x="586032" y="2028825"/>
                  <a:pt x="415470" y="1982390"/>
                </a:cubicBezTo>
                <a:cubicBezTo>
                  <a:pt x="383490" y="1975246"/>
                  <a:pt x="344403" y="1960959"/>
                  <a:pt x="330189" y="1900238"/>
                </a:cubicBezTo>
                <a:cubicBezTo>
                  <a:pt x="792127" y="1993106"/>
                  <a:pt x="1211424" y="2232422"/>
                  <a:pt x="1687576" y="2218135"/>
                </a:cubicBezTo>
                <a:cubicBezTo>
                  <a:pt x="1559654" y="2143125"/>
                  <a:pt x="1406860" y="2139554"/>
                  <a:pt x="1268278" y="2085975"/>
                </a:cubicBezTo>
                <a:cubicBezTo>
                  <a:pt x="1367772" y="2046685"/>
                  <a:pt x="1460160" y="2089547"/>
                  <a:pt x="1552548" y="2110978"/>
                </a:cubicBezTo>
                <a:cubicBezTo>
                  <a:pt x="1630722" y="2128837"/>
                  <a:pt x="1701789" y="2132410"/>
                  <a:pt x="1708896" y="2021681"/>
                </a:cubicBezTo>
                <a:cubicBezTo>
                  <a:pt x="1708896" y="2010965"/>
                  <a:pt x="1708896" y="2003821"/>
                  <a:pt x="1708896" y="1993106"/>
                </a:cubicBezTo>
                <a:cubicBezTo>
                  <a:pt x="1680469" y="1946672"/>
                  <a:pt x="1641382" y="1925240"/>
                  <a:pt x="1591635" y="1910953"/>
                </a:cubicBezTo>
                <a:cubicBezTo>
                  <a:pt x="1563208" y="1903809"/>
                  <a:pt x="1524121" y="1889522"/>
                  <a:pt x="1524121" y="1857375"/>
                </a:cubicBezTo>
                <a:cubicBezTo>
                  <a:pt x="1527674" y="1735931"/>
                  <a:pt x="1431733" y="1700212"/>
                  <a:pt x="1339346" y="1664493"/>
                </a:cubicBezTo>
                <a:cubicBezTo>
                  <a:pt x="1389093" y="1603772"/>
                  <a:pt x="1431733" y="1646635"/>
                  <a:pt x="1470820" y="1643062"/>
                </a:cubicBezTo>
                <a:cubicBezTo>
                  <a:pt x="1495694" y="1639491"/>
                  <a:pt x="1520567" y="1635919"/>
                  <a:pt x="1520567" y="1603772"/>
                </a:cubicBezTo>
                <a:cubicBezTo>
                  <a:pt x="1520567" y="1578769"/>
                  <a:pt x="1509907" y="1546622"/>
                  <a:pt x="1485034" y="1546622"/>
                </a:cubicBezTo>
                <a:cubicBezTo>
                  <a:pt x="1328686" y="1543050"/>
                  <a:pt x="1239851" y="1371600"/>
                  <a:pt x="1076396" y="1371600"/>
                </a:cubicBezTo>
                <a:cubicBezTo>
                  <a:pt x="976902" y="1371600"/>
                  <a:pt x="1126144" y="1275159"/>
                  <a:pt x="1044416" y="1235869"/>
                </a:cubicBezTo>
                <a:cubicBezTo>
                  <a:pt x="1026649" y="1225153"/>
                  <a:pt x="1094163" y="1210866"/>
                  <a:pt x="1122590" y="1214437"/>
                </a:cubicBezTo>
                <a:cubicBezTo>
                  <a:pt x="1151017" y="1218009"/>
                  <a:pt x="1175891" y="1243013"/>
                  <a:pt x="1211424" y="1225153"/>
                </a:cubicBezTo>
                <a:cubicBezTo>
                  <a:pt x="1229191" y="1160860"/>
                  <a:pt x="1182997" y="1135856"/>
                  <a:pt x="1140357" y="1117997"/>
                </a:cubicBezTo>
                <a:cubicBezTo>
                  <a:pt x="1047969" y="1075135"/>
                  <a:pt x="955582" y="1025129"/>
                  <a:pt x="852534" y="1010841"/>
                </a:cubicBezTo>
                <a:cubicBezTo>
                  <a:pt x="817001" y="1007269"/>
                  <a:pt x="795680" y="989409"/>
                  <a:pt x="799234" y="953690"/>
                </a:cubicBezTo>
                <a:cubicBezTo>
                  <a:pt x="806340" y="907256"/>
                  <a:pt x="841874" y="921544"/>
                  <a:pt x="870301" y="925115"/>
                </a:cubicBezTo>
                <a:cubicBezTo>
                  <a:pt x="888068" y="928688"/>
                  <a:pt x="905835" y="939403"/>
                  <a:pt x="923602" y="914400"/>
                </a:cubicBezTo>
                <a:cubicBezTo>
                  <a:pt x="611794" y="724198"/>
                  <a:pt x="409919" y="684684"/>
                  <a:pt x="132090" y="589415"/>
                </a:cubicBezTo>
                <a:lnTo>
                  <a:pt x="31922" y="552917"/>
                </a:lnTo>
                <a:lnTo>
                  <a:pt x="26859" y="541335"/>
                </a:lnTo>
                <a:cubicBezTo>
                  <a:pt x="20137" y="534929"/>
                  <a:pt x="8953" y="532232"/>
                  <a:pt x="0" y="527681"/>
                </a:cubicBezTo>
                <a:cubicBezTo>
                  <a:pt x="5969" y="516305"/>
                  <a:pt x="7617" y="502963"/>
                  <a:pt x="17905" y="493550"/>
                </a:cubicBezTo>
                <a:cubicBezTo>
                  <a:pt x="23947" y="488022"/>
                  <a:pt x="35344" y="487159"/>
                  <a:pt x="44763" y="486724"/>
                </a:cubicBezTo>
                <a:lnTo>
                  <a:pt x="165722" y="483650"/>
                </a:lnTo>
                <a:lnTo>
                  <a:pt x="193385" y="498723"/>
                </a:lnTo>
                <a:cubicBezTo>
                  <a:pt x="210263" y="511671"/>
                  <a:pt x="227142" y="525066"/>
                  <a:pt x="315976" y="535781"/>
                </a:cubicBezTo>
                <a:cubicBezTo>
                  <a:pt x="401257" y="546497"/>
                  <a:pt x="479431" y="582216"/>
                  <a:pt x="575372" y="525066"/>
                </a:cubicBezTo>
                <a:cubicBezTo>
                  <a:pt x="639332" y="485775"/>
                  <a:pt x="742380" y="528637"/>
                  <a:pt x="820554" y="560785"/>
                </a:cubicBezTo>
                <a:cubicBezTo>
                  <a:pt x="884515" y="589360"/>
                  <a:pt x="948475" y="596503"/>
                  <a:pt x="1033756" y="560785"/>
                </a:cubicBezTo>
                <a:cubicBezTo>
                  <a:pt x="955582" y="539354"/>
                  <a:pt x="895175" y="521494"/>
                  <a:pt x="834767" y="507206"/>
                </a:cubicBezTo>
                <a:cubicBezTo>
                  <a:pt x="785020" y="496491"/>
                  <a:pt x="756593" y="471488"/>
                  <a:pt x="760147" y="417909"/>
                </a:cubicBezTo>
                <a:cubicBezTo>
                  <a:pt x="760147" y="389334"/>
                  <a:pt x="749487" y="350044"/>
                  <a:pt x="785020" y="335757"/>
                </a:cubicBezTo>
                <a:cubicBezTo>
                  <a:pt x="813447" y="321469"/>
                  <a:pt x="852534" y="335757"/>
                  <a:pt x="866748" y="360759"/>
                </a:cubicBezTo>
                <a:cubicBezTo>
                  <a:pt x="884515" y="407194"/>
                  <a:pt x="902281" y="450056"/>
                  <a:pt x="962689" y="453629"/>
                </a:cubicBezTo>
                <a:cubicBezTo>
                  <a:pt x="1044416" y="460771"/>
                  <a:pt x="998222" y="432197"/>
                  <a:pt x="984009" y="396478"/>
                </a:cubicBezTo>
                <a:cubicBezTo>
                  <a:pt x="969795" y="357188"/>
                  <a:pt x="1012436" y="346472"/>
                  <a:pt x="1040863" y="353615"/>
                </a:cubicBezTo>
                <a:cubicBezTo>
                  <a:pt x="1147464" y="385763"/>
                  <a:pt x="1257618" y="328613"/>
                  <a:pt x="1367772" y="375047"/>
                </a:cubicBezTo>
                <a:cubicBezTo>
                  <a:pt x="1339346" y="260747"/>
                  <a:pt x="1278938" y="210741"/>
                  <a:pt x="1151017" y="192881"/>
                </a:cubicBezTo>
                <a:cubicBezTo>
                  <a:pt x="1104823" y="189310"/>
                  <a:pt x="1055076" y="196453"/>
                  <a:pt x="1012436" y="164306"/>
                </a:cubicBezTo>
                <a:cubicBezTo>
                  <a:pt x="987562" y="146447"/>
                  <a:pt x="962689" y="125016"/>
                  <a:pt x="980456" y="89297"/>
                </a:cubicBezTo>
                <a:cubicBezTo>
                  <a:pt x="991116" y="64294"/>
                  <a:pt x="1019542" y="64294"/>
                  <a:pt x="1044416" y="71437"/>
                </a:cubicBezTo>
                <a:cubicBezTo>
                  <a:pt x="1147464" y="110728"/>
                  <a:pt x="1257618" y="121444"/>
                  <a:pt x="1364219" y="135731"/>
                </a:cubicBezTo>
                <a:cubicBezTo>
                  <a:pt x="1381986" y="139303"/>
                  <a:pt x="1399753" y="146447"/>
                  <a:pt x="1417520" y="110728"/>
                </a:cubicBezTo>
                <a:cubicBezTo>
                  <a:pt x="1293152" y="78581"/>
                  <a:pt x="1172337" y="35719"/>
                  <a:pt x="1047969" y="0"/>
                </a:cubicBezTo>
                <a:close/>
              </a:path>
            </a:pathLst>
          </a:custGeom>
          <a:noFill/>
          <a:extLst>
            <a:ext uri="{909E8E84-426E-40DD-AFC4-6F175D3DCCD1}">
              <a14:hiddenFill xmlns:a14="http://schemas.microsoft.com/office/drawing/2010/main">
                <a:solidFill>
                  <a:srgbClr val="FFFFFF"/>
                </a:solidFill>
              </a14:hiddenFill>
            </a:ext>
          </a:extLst>
        </p:spPr>
      </p:pic>
      <p:pic>
        <p:nvPicPr>
          <p:cNvPr id="3076" name="Picture 4" descr="MySQL brand resources: accessing high ...">
            <a:extLst>
              <a:ext uri="{FF2B5EF4-FFF2-40B4-BE49-F238E27FC236}">
                <a16:creationId xmlns:a16="http://schemas.microsoft.com/office/drawing/2014/main" id="{D4591B35-AD51-98E4-1084-AD93580D0BB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4521" r="1" b="8241"/>
          <a:stretch/>
        </p:blipFill>
        <p:spPr bwMode="auto">
          <a:xfrm>
            <a:off x="4726728" y="3802961"/>
            <a:ext cx="7472381" cy="3055043"/>
          </a:xfrm>
          <a:custGeom>
            <a:avLst/>
            <a:gdLst/>
            <a:ahLst/>
            <a:cxnLst/>
            <a:rect l="l" t="t" r="r" b="b"/>
            <a:pathLst>
              <a:path w="7472381" h="3055043">
                <a:moveTo>
                  <a:pt x="638975" y="0"/>
                </a:moveTo>
                <a:lnTo>
                  <a:pt x="7472381" y="0"/>
                </a:lnTo>
                <a:lnTo>
                  <a:pt x="7472381" y="2579984"/>
                </a:lnTo>
                <a:lnTo>
                  <a:pt x="7472381" y="3055043"/>
                </a:lnTo>
                <a:lnTo>
                  <a:pt x="6992676" y="3055043"/>
                </a:lnTo>
                <a:lnTo>
                  <a:pt x="1946893" y="3055043"/>
                </a:lnTo>
                <a:cubicBezTo>
                  <a:pt x="1801205" y="2983605"/>
                  <a:pt x="1662624" y="2897880"/>
                  <a:pt x="1506276" y="2855018"/>
                </a:cubicBezTo>
                <a:cubicBezTo>
                  <a:pt x="1399675" y="2826443"/>
                  <a:pt x="1296627" y="2776437"/>
                  <a:pt x="1314394" y="2626417"/>
                </a:cubicBezTo>
                <a:cubicBezTo>
                  <a:pt x="1317947" y="2583555"/>
                  <a:pt x="1289520" y="2551409"/>
                  <a:pt x="1246880" y="2562124"/>
                </a:cubicBezTo>
                <a:cubicBezTo>
                  <a:pt x="1165153" y="2583555"/>
                  <a:pt x="1126065" y="2522833"/>
                  <a:pt x="1079872" y="2476399"/>
                </a:cubicBezTo>
                <a:cubicBezTo>
                  <a:pt x="998144" y="2394247"/>
                  <a:pt x="919970" y="2308520"/>
                  <a:pt x="788495" y="2294233"/>
                </a:cubicBezTo>
                <a:cubicBezTo>
                  <a:pt x="813369" y="2229939"/>
                  <a:pt x="856009" y="2237083"/>
                  <a:pt x="895097" y="2251371"/>
                </a:cubicBezTo>
                <a:cubicBezTo>
                  <a:pt x="998144" y="2287090"/>
                  <a:pt x="1101192" y="2326380"/>
                  <a:pt x="1204239" y="2362099"/>
                </a:cubicBezTo>
                <a:cubicBezTo>
                  <a:pt x="1271754" y="2383530"/>
                  <a:pt x="1339267" y="2415677"/>
                  <a:pt x="1428102" y="2390674"/>
                </a:cubicBezTo>
                <a:cubicBezTo>
                  <a:pt x="1349928" y="2262087"/>
                  <a:pt x="1218453" y="2237083"/>
                  <a:pt x="1111852" y="2197793"/>
                </a:cubicBezTo>
                <a:cubicBezTo>
                  <a:pt x="980377" y="2147787"/>
                  <a:pt x="902203" y="2054918"/>
                  <a:pt x="806262" y="1947762"/>
                </a:cubicBezTo>
                <a:cubicBezTo>
                  <a:pt x="902203" y="1919187"/>
                  <a:pt x="962610" y="1997768"/>
                  <a:pt x="1040785" y="1994196"/>
                </a:cubicBezTo>
                <a:cubicBezTo>
                  <a:pt x="1044338" y="1983480"/>
                  <a:pt x="1051445" y="1962049"/>
                  <a:pt x="1051445" y="1962049"/>
                </a:cubicBezTo>
                <a:cubicBezTo>
                  <a:pt x="923523" y="1904899"/>
                  <a:pt x="866670" y="1797743"/>
                  <a:pt x="845349" y="1665583"/>
                </a:cubicBezTo>
                <a:cubicBezTo>
                  <a:pt x="838243" y="1597718"/>
                  <a:pt x="792049" y="1576287"/>
                  <a:pt x="745855" y="1544140"/>
                </a:cubicBezTo>
                <a:cubicBezTo>
                  <a:pt x="589507" y="1433411"/>
                  <a:pt x="422499" y="1333399"/>
                  <a:pt x="291024" y="1183381"/>
                </a:cubicBezTo>
                <a:cubicBezTo>
                  <a:pt x="443819" y="1201239"/>
                  <a:pt x="564633" y="1301252"/>
                  <a:pt x="724535" y="1344115"/>
                </a:cubicBezTo>
                <a:cubicBezTo>
                  <a:pt x="596614" y="1179808"/>
                  <a:pt x="429605" y="1094083"/>
                  <a:pt x="276811" y="994071"/>
                </a:cubicBezTo>
                <a:cubicBezTo>
                  <a:pt x="205743" y="947637"/>
                  <a:pt x="141783" y="890486"/>
                  <a:pt x="60055" y="865484"/>
                </a:cubicBezTo>
                <a:cubicBezTo>
                  <a:pt x="31628" y="858340"/>
                  <a:pt x="-18119" y="840481"/>
                  <a:pt x="6755" y="790474"/>
                </a:cubicBezTo>
                <a:cubicBezTo>
                  <a:pt x="28075" y="747612"/>
                  <a:pt x="67162" y="761900"/>
                  <a:pt x="102696" y="772614"/>
                </a:cubicBezTo>
                <a:cubicBezTo>
                  <a:pt x="187976" y="801190"/>
                  <a:pt x="280364" y="801190"/>
                  <a:pt x="397625" y="801190"/>
                </a:cubicBezTo>
                <a:cubicBezTo>
                  <a:pt x="298131" y="665458"/>
                  <a:pt x="116909" y="708321"/>
                  <a:pt x="31628" y="565446"/>
                </a:cubicBezTo>
                <a:cubicBezTo>
                  <a:pt x="138229" y="540444"/>
                  <a:pt x="219957" y="590450"/>
                  <a:pt x="305237" y="601165"/>
                </a:cubicBezTo>
                <a:cubicBezTo>
                  <a:pt x="383412" y="611881"/>
                  <a:pt x="401178" y="586877"/>
                  <a:pt x="383412" y="508296"/>
                </a:cubicBezTo>
                <a:cubicBezTo>
                  <a:pt x="354985" y="386853"/>
                  <a:pt x="397625" y="326130"/>
                  <a:pt x="511333" y="358278"/>
                </a:cubicBezTo>
                <a:cubicBezTo>
                  <a:pt x="617934" y="390424"/>
                  <a:pt x="628594" y="343990"/>
                  <a:pt x="600167" y="276124"/>
                </a:cubicBezTo>
                <a:cubicBezTo>
                  <a:pt x="557527" y="176112"/>
                  <a:pt x="603720" y="97531"/>
                  <a:pt x="635701" y="118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116891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8EFC3E-5EDC-1DB7-35E7-78E371182BF2}"/>
              </a:ext>
            </a:extLst>
          </p:cNvPr>
          <p:cNvSpPr>
            <a:spLocks noGrp="1"/>
          </p:cNvSpPr>
          <p:nvPr>
            <p:ph type="title"/>
          </p:nvPr>
        </p:nvSpPr>
        <p:spPr/>
        <p:txBody>
          <a:bodyPr/>
          <a:lstStyle/>
          <a:p>
            <a:r>
              <a:rPr lang="en-GB" dirty="0"/>
              <a:t>Front End: JSP, JS, CSS</a:t>
            </a:r>
          </a:p>
        </p:txBody>
      </p:sp>
      <p:sp>
        <p:nvSpPr>
          <p:cNvPr id="3" name="Content Placeholder 2">
            <a:extLst>
              <a:ext uri="{FF2B5EF4-FFF2-40B4-BE49-F238E27FC236}">
                <a16:creationId xmlns:a16="http://schemas.microsoft.com/office/drawing/2014/main" id="{5461171C-1A4A-67F9-435B-09216A3BA7D2}"/>
              </a:ext>
            </a:extLst>
          </p:cNvPr>
          <p:cNvSpPr>
            <a:spLocks noGrp="1"/>
          </p:cNvSpPr>
          <p:nvPr>
            <p:ph idx="1"/>
          </p:nvPr>
        </p:nvSpPr>
        <p:spPr>
          <a:xfrm>
            <a:off x="81280" y="1391920"/>
            <a:ext cx="12110720" cy="5466079"/>
          </a:xfrm>
        </p:spPr>
        <p:txBody>
          <a:bodyPr>
            <a:normAutofit fontScale="92500" lnSpcReduction="20000"/>
          </a:bodyPr>
          <a:lstStyle/>
          <a:p>
            <a:pPr marL="0" indent="0">
              <a:buNone/>
            </a:pPr>
            <a:r>
              <a:rPr lang="en-GB" b="1" dirty="0"/>
              <a:t>JSP:</a:t>
            </a:r>
          </a:p>
          <a:p>
            <a:pPr marL="0" indent="0">
              <a:buNone/>
            </a:pPr>
            <a:endParaRPr lang="en-GB" b="1" dirty="0"/>
          </a:p>
          <a:p>
            <a:r>
              <a:rPr lang="en-GB" dirty="0"/>
              <a:t>We chose to use JSP as we were familiar with it from previous modules</a:t>
            </a:r>
          </a:p>
          <a:p>
            <a:r>
              <a:rPr lang="en-GB" dirty="0"/>
              <a:t>It also integrates well with our Java Code, as you can “embed” java code inside the JSP files.</a:t>
            </a:r>
          </a:p>
          <a:p>
            <a:endParaRPr lang="en-GB" dirty="0"/>
          </a:p>
          <a:p>
            <a:pPr marL="0" indent="0">
              <a:buNone/>
            </a:pPr>
            <a:r>
              <a:rPr lang="en-GB" b="1" dirty="0"/>
              <a:t>CSS:</a:t>
            </a:r>
          </a:p>
          <a:p>
            <a:pPr marL="0" indent="0">
              <a:buNone/>
            </a:pPr>
            <a:endParaRPr lang="en-GB" b="1" dirty="0"/>
          </a:p>
          <a:p>
            <a:r>
              <a:rPr lang="en-GB" dirty="0"/>
              <a:t>Styling was done with CSS</a:t>
            </a:r>
          </a:p>
          <a:p>
            <a:pPr marL="0" indent="0">
              <a:buNone/>
            </a:pPr>
            <a:endParaRPr lang="en-GB" dirty="0"/>
          </a:p>
          <a:p>
            <a:pPr marL="0" indent="0">
              <a:buNone/>
            </a:pPr>
            <a:r>
              <a:rPr lang="en-GB" b="1" dirty="0"/>
              <a:t>JS:</a:t>
            </a:r>
          </a:p>
          <a:p>
            <a:pPr lvl="1"/>
            <a:endParaRPr lang="en-GB" b="1" dirty="0"/>
          </a:p>
          <a:p>
            <a:r>
              <a:rPr lang="en-GB" dirty="0"/>
              <a:t>Some features, such as dynamically changing leaderboard position indicators, or searching for courses, are handled in JS</a:t>
            </a:r>
          </a:p>
        </p:txBody>
      </p:sp>
    </p:spTree>
    <p:extLst>
      <p:ext uri="{BB962C8B-B14F-4D97-AF65-F5344CB8AC3E}">
        <p14:creationId xmlns:p14="http://schemas.microsoft.com/office/powerpoint/2010/main" val="36827290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355D0-1116-4876-0CCE-6755FA80A6D5}"/>
              </a:ext>
            </a:extLst>
          </p:cNvPr>
          <p:cNvSpPr>
            <a:spLocks noGrp="1"/>
          </p:cNvSpPr>
          <p:nvPr>
            <p:ph type="title"/>
          </p:nvPr>
        </p:nvSpPr>
        <p:spPr/>
        <p:txBody>
          <a:bodyPr/>
          <a:lstStyle/>
          <a:p>
            <a:r>
              <a:rPr lang="en-GB" dirty="0"/>
              <a:t>Improvements that could have been made in the Software Architecture</a:t>
            </a:r>
          </a:p>
        </p:txBody>
      </p:sp>
      <p:sp>
        <p:nvSpPr>
          <p:cNvPr id="3" name="Content Placeholder 2">
            <a:extLst>
              <a:ext uri="{FF2B5EF4-FFF2-40B4-BE49-F238E27FC236}">
                <a16:creationId xmlns:a16="http://schemas.microsoft.com/office/drawing/2014/main" id="{006EBC3F-2F5B-14BD-4AF1-883CAB8B8005}"/>
              </a:ext>
            </a:extLst>
          </p:cNvPr>
          <p:cNvSpPr>
            <a:spLocks noGrp="1"/>
          </p:cNvSpPr>
          <p:nvPr>
            <p:ph idx="1"/>
          </p:nvPr>
        </p:nvSpPr>
        <p:spPr/>
        <p:txBody>
          <a:bodyPr/>
          <a:lstStyle/>
          <a:p>
            <a:pPr marL="0" indent="0">
              <a:buNone/>
            </a:pPr>
            <a:r>
              <a:rPr lang="en-GB" dirty="0"/>
              <a:t>Next time we could:</a:t>
            </a:r>
          </a:p>
          <a:p>
            <a:pPr marL="0" indent="0">
              <a:buNone/>
            </a:pPr>
            <a:endParaRPr lang="en-GB" dirty="0"/>
          </a:p>
          <a:p>
            <a:r>
              <a:rPr lang="en-GB" dirty="0"/>
              <a:t>Use thyme leaf rather than JSPs for making the pages, as it may help with clean code</a:t>
            </a:r>
          </a:p>
          <a:p>
            <a:r>
              <a:rPr lang="en-GB" dirty="0"/>
              <a:t>Use a CSS Framework to ensure more consistency between web pages</a:t>
            </a:r>
          </a:p>
        </p:txBody>
      </p:sp>
    </p:spTree>
    <p:extLst>
      <p:ext uri="{BB962C8B-B14F-4D97-AF65-F5344CB8AC3E}">
        <p14:creationId xmlns:p14="http://schemas.microsoft.com/office/powerpoint/2010/main" val="7681580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18" name="Picture 17" descr="One in a crowd">
            <a:extLst>
              <a:ext uri="{FF2B5EF4-FFF2-40B4-BE49-F238E27FC236}">
                <a16:creationId xmlns:a16="http://schemas.microsoft.com/office/drawing/2014/main" id="{A5894368-2FDA-0779-957C-2EF3A6680082}"/>
              </a:ext>
            </a:extLst>
          </p:cNvPr>
          <p:cNvPicPr>
            <a:picLocks noChangeAspect="1"/>
          </p:cNvPicPr>
          <p:nvPr/>
        </p:nvPicPr>
        <p:blipFill>
          <a:blip r:embed="rId3"/>
          <a:srcRect r="5200"/>
          <a:stretch/>
        </p:blipFill>
        <p:spPr>
          <a:xfrm>
            <a:off x="3523488" y="10"/>
            <a:ext cx="8668512" cy="6857990"/>
          </a:xfrm>
          <a:prstGeom prst="rect">
            <a:avLst/>
          </a:prstGeom>
        </p:spPr>
      </p:pic>
      <p:sp>
        <p:nvSpPr>
          <p:cNvPr id="19" name="Rectangle 18">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4" name="Title 3">
            <a:extLst>
              <a:ext uri="{FF2B5EF4-FFF2-40B4-BE49-F238E27FC236}">
                <a16:creationId xmlns:a16="http://schemas.microsoft.com/office/drawing/2014/main" id="{B8F8EC5F-1EEC-F8BE-D78D-120536B4731D}"/>
              </a:ext>
            </a:extLst>
          </p:cNvPr>
          <p:cNvSpPr>
            <a:spLocks noGrp="1"/>
          </p:cNvSpPr>
          <p:nvPr>
            <p:ph type="ctrTitle"/>
          </p:nvPr>
        </p:nvSpPr>
        <p:spPr>
          <a:xfrm>
            <a:off x="477981" y="1122363"/>
            <a:ext cx="4023360" cy="3204134"/>
          </a:xfrm>
        </p:spPr>
        <p:txBody>
          <a:bodyPr anchor="b">
            <a:normAutofit/>
          </a:bodyPr>
          <a:lstStyle/>
          <a:p>
            <a:pPr algn="l"/>
            <a:r>
              <a:rPr lang="en-GB" sz="4800" dirty="0">
                <a:solidFill>
                  <a:schemeClr val="bg1"/>
                </a:solidFill>
              </a:rPr>
              <a:t>Task</a:t>
            </a:r>
            <a:br>
              <a:rPr lang="en-GB" sz="4800" dirty="0">
                <a:solidFill>
                  <a:schemeClr val="bg1"/>
                </a:solidFill>
              </a:rPr>
            </a:br>
            <a:r>
              <a:rPr lang="en-GB" sz="4800" dirty="0">
                <a:solidFill>
                  <a:schemeClr val="bg1"/>
                </a:solidFill>
              </a:rPr>
              <a:t>Allocation</a:t>
            </a:r>
          </a:p>
        </p:txBody>
      </p:sp>
      <p:sp>
        <p:nvSpPr>
          <p:cNvPr id="5" name="Subtitle 4">
            <a:extLst>
              <a:ext uri="{FF2B5EF4-FFF2-40B4-BE49-F238E27FC236}">
                <a16:creationId xmlns:a16="http://schemas.microsoft.com/office/drawing/2014/main" id="{04030DF1-7361-3192-C587-489FE98EC760}"/>
              </a:ext>
            </a:extLst>
          </p:cNvPr>
          <p:cNvSpPr>
            <a:spLocks noGrp="1"/>
          </p:cNvSpPr>
          <p:nvPr>
            <p:ph type="subTitle" idx="1"/>
          </p:nvPr>
        </p:nvSpPr>
        <p:spPr>
          <a:xfrm>
            <a:off x="477982" y="4556064"/>
            <a:ext cx="4023359" cy="632503"/>
          </a:xfrm>
        </p:spPr>
        <p:txBody>
          <a:bodyPr>
            <a:normAutofit/>
          </a:bodyPr>
          <a:lstStyle/>
          <a:p>
            <a:pPr algn="l"/>
            <a:r>
              <a:rPr lang="en-GB" sz="2000" dirty="0">
                <a:solidFill>
                  <a:schemeClr val="bg1"/>
                </a:solidFill>
              </a:rPr>
              <a:t>IBM SkillsBuild Gamification</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extBox 1">
            <a:extLst>
              <a:ext uri="{FF2B5EF4-FFF2-40B4-BE49-F238E27FC236}">
                <a16:creationId xmlns:a16="http://schemas.microsoft.com/office/drawing/2014/main" id="{5F20B5AC-E3AF-BD5A-855C-6058C4EF3473}"/>
              </a:ext>
            </a:extLst>
          </p:cNvPr>
          <p:cNvSpPr txBox="1"/>
          <p:nvPr/>
        </p:nvSpPr>
        <p:spPr>
          <a:xfrm>
            <a:off x="477980" y="5188567"/>
            <a:ext cx="2504559" cy="646331"/>
          </a:xfrm>
          <a:prstGeom prst="rect">
            <a:avLst/>
          </a:prstGeom>
          <a:noFill/>
        </p:spPr>
        <p:txBody>
          <a:bodyPr wrap="square" rtlCol="0">
            <a:spAutoFit/>
          </a:bodyPr>
          <a:lstStyle/>
          <a:p>
            <a:r>
              <a:rPr lang="en-GB" i="1" dirty="0">
                <a:solidFill>
                  <a:schemeClr val="bg1"/>
                </a:solidFill>
              </a:rPr>
              <a:t>Shoaib Irfan</a:t>
            </a:r>
          </a:p>
          <a:p>
            <a:r>
              <a:rPr lang="en-GB" i="1" dirty="0">
                <a:solidFill>
                  <a:schemeClr val="bg1"/>
                </a:solidFill>
              </a:rPr>
              <a:t>sim20@student.le.ac.uk</a:t>
            </a:r>
          </a:p>
        </p:txBody>
      </p:sp>
    </p:spTree>
    <p:extLst>
      <p:ext uri="{BB962C8B-B14F-4D97-AF65-F5344CB8AC3E}">
        <p14:creationId xmlns:p14="http://schemas.microsoft.com/office/powerpoint/2010/main" val="3503855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4"/>
                                        </p:tgtEl>
                                        <p:attrNameLst>
                                          <p:attrName>style.visibility</p:attrName>
                                        </p:attrNameLst>
                                      </p:cBhvr>
                                      <p:to>
                                        <p:strVal val="visible"/>
                                      </p:to>
                                    </p:set>
                                    <p:animEffect transition="in" filter="fade">
                                      <p:cBhvr>
                                        <p:cTn id="7" dur="4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A30B57-8B1D-9483-A804-F510B87AED4C}"/>
              </a:ext>
            </a:extLst>
          </p:cNvPr>
          <p:cNvSpPr>
            <a:spLocks noGrp="1"/>
          </p:cNvSpPr>
          <p:nvPr>
            <p:ph type="title"/>
          </p:nvPr>
        </p:nvSpPr>
        <p:spPr>
          <a:xfrm>
            <a:off x="686834" y="1153572"/>
            <a:ext cx="3200400" cy="4461163"/>
          </a:xfrm>
        </p:spPr>
        <p:txBody>
          <a:bodyPr>
            <a:normAutofit/>
          </a:bodyPr>
          <a:lstStyle/>
          <a:p>
            <a:r>
              <a:rPr lang="en-GB">
                <a:solidFill>
                  <a:srgbClr val="FFFFFF"/>
                </a:solidFill>
              </a:rPr>
              <a:t>How was it done?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95DF11CB-323B-72F3-0A9D-7EEFE581DF5E}"/>
              </a:ext>
            </a:extLst>
          </p:cNvPr>
          <p:cNvSpPr>
            <a:spLocks noGrp="1"/>
          </p:cNvSpPr>
          <p:nvPr>
            <p:ph idx="1"/>
          </p:nvPr>
        </p:nvSpPr>
        <p:spPr>
          <a:xfrm>
            <a:off x="4447308" y="591344"/>
            <a:ext cx="6906491" cy="5585619"/>
          </a:xfrm>
        </p:spPr>
        <p:txBody>
          <a:bodyPr anchor="ctr">
            <a:normAutofit/>
          </a:bodyPr>
          <a:lstStyle/>
          <a:p>
            <a:pPr marL="0" indent="0">
              <a:buNone/>
            </a:pPr>
            <a:r>
              <a:rPr lang="en-GB" dirty="0"/>
              <a:t>Approach taken:</a:t>
            </a:r>
          </a:p>
          <a:p>
            <a:pPr>
              <a:buFontTx/>
              <a:buChar char="-"/>
            </a:pPr>
            <a:r>
              <a:rPr lang="en-GB" dirty="0"/>
              <a:t>Roles were assigned on voluntary basis</a:t>
            </a:r>
          </a:p>
          <a:p>
            <a:pPr>
              <a:buFontTx/>
              <a:buChar char="-"/>
            </a:pPr>
            <a:r>
              <a:rPr lang="en-GB" dirty="0"/>
              <a:t>Strengths and familiarity with concepts were key in distribution of workload</a:t>
            </a:r>
          </a:p>
        </p:txBody>
      </p:sp>
    </p:spTree>
    <p:extLst>
      <p:ext uri="{BB962C8B-B14F-4D97-AF65-F5344CB8AC3E}">
        <p14:creationId xmlns:p14="http://schemas.microsoft.com/office/powerpoint/2010/main" val="60903693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166DBDD-0556-FD3D-9584-D378AB04EB1E}"/>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D39B960-FED3-65C2-6E36-C0DB398D6F65}"/>
              </a:ext>
            </a:extLst>
          </p:cNvPr>
          <p:cNvSpPr>
            <a:spLocks noGrp="1"/>
          </p:cNvSpPr>
          <p:nvPr>
            <p:ph type="title"/>
          </p:nvPr>
        </p:nvSpPr>
        <p:spPr>
          <a:xfrm>
            <a:off x="640080" y="325369"/>
            <a:ext cx="4368602" cy="1956841"/>
          </a:xfrm>
        </p:spPr>
        <p:txBody>
          <a:bodyPr anchor="b">
            <a:normAutofit/>
          </a:bodyPr>
          <a:lstStyle/>
          <a:p>
            <a:r>
              <a:rPr lang="en-GB" sz="5400"/>
              <a:t>How was it done?</a:t>
            </a:r>
          </a:p>
        </p:txBody>
      </p:sp>
      <p:sp>
        <p:nvSpPr>
          <p:cNvPr id="14"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505016B-677E-6891-4BED-8119BB140187}"/>
              </a:ext>
            </a:extLst>
          </p:cNvPr>
          <p:cNvSpPr>
            <a:spLocks noGrp="1"/>
          </p:cNvSpPr>
          <p:nvPr>
            <p:ph idx="1"/>
          </p:nvPr>
        </p:nvSpPr>
        <p:spPr>
          <a:xfrm>
            <a:off x="640080" y="2872899"/>
            <a:ext cx="4243589" cy="3320668"/>
          </a:xfrm>
        </p:spPr>
        <p:txBody>
          <a:bodyPr>
            <a:normAutofit/>
          </a:bodyPr>
          <a:lstStyle/>
          <a:p>
            <a:pPr>
              <a:buFontTx/>
              <a:buChar char="-"/>
            </a:pPr>
            <a:r>
              <a:rPr lang="en-GB" sz="2200"/>
              <a:t>All User Stories were assigned to team members on GitLab with appropriate weights upon discussion at the beginning of each Sprint.</a:t>
            </a:r>
          </a:p>
          <a:p>
            <a:pPr>
              <a:buFontTx/>
              <a:buChar char="-"/>
            </a:pPr>
            <a:r>
              <a:rPr lang="en-GB" sz="2200"/>
              <a:t>Made sure work distribution was equal and satisfactory for all team members to avoid team conflicts.</a:t>
            </a:r>
          </a:p>
          <a:p>
            <a:pPr>
              <a:buFontTx/>
              <a:buChar char="-"/>
            </a:pPr>
            <a:endParaRPr lang="en-GB" sz="2200"/>
          </a:p>
        </p:txBody>
      </p:sp>
      <p:pic>
        <p:nvPicPr>
          <p:cNvPr id="7" name="Picture 6" descr="People sitting on blue chairs">
            <a:extLst>
              <a:ext uri="{FF2B5EF4-FFF2-40B4-BE49-F238E27FC236}">
                <a16:creationId xmlns:a16="http://schemas.microsoft.com/office/drawing/2014/main" id="{EED31EF6-F9CD-714A-810A-931C8C14E1F1}"/>
              </a:ext>
            </a:extLst>
          </p:cNvPr>
          <p:cNvPicPr>
            <a:picLocks noChangeAspect="1"/>
          </p:cNvPicPr>
          <p:nvPr/>
        </p:nvPicPr>
        <p:blipFill>
          <a:blip r:embed="rId2">
            <a:extLst>
              <a:ext uri="{28A0092B-C50C-407E-A947-70E740481C1C}">
                <a14:useLocalDpi xmlns:a14="http://schemas.microsoft.com/office/drawing/2010/main" val="0"/>
              </a:ext>
            </a:extLst>
          </a:blip>
          <a:srcRect l="22894" r="10153"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12850789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itle 13">
            <a:extLst>
              <a:ext uri="{FF2B5EF4-FFF2-40B4-BE49-F238E27FC236}">
                <a16:creationId xmlns:a16="http://schemas.microsoft.com/office/drawing/2014/main" id="{E0CB100E-F429-CD2F-F9D8-36A2A27A7861}"/>
              </a:ext>
            </a:extLst>
          </p:cNvPr>
          <p:cNvSpPr>
            <a:spLocks noGrp="1"/>
          </p:cNvSpPr>
          <p:nvPr>
            <p:ph type="title"/>
          </p:nvPr>
        </p:nvSpPr>
        <p:spPr>
          <a:xfrm>
            <a:off x="630936" y="640823"/>
            <a:ext cx="3419856" cy="5583148"/>
          </a:xfrm>
        </p:spPr>
        <p:txBody>
          <a:bodyPr anchor="ctr">
            <a:normAutofit/>
          </a:bodyPr>
          <a:lstStyle/>
          <a:p>
            <a:r>
              <a:rPr lang="en-GB" sz="5400"/>
              <a:t>Evidence of Allocation</a:t>
            </a:r>
          </a:p>
        </p:txBody>
      </p:sp>
      <p:sp>
        <p:nvSpPr>
          <p:cNvPr id="26"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onnsiteX0" fmla="*/ 0 w 18288"/>
              <a:gd name="connsiteY0" fmla="*/ 0 h 5590381"/>
              <a:gd name="connsiteX1" fmla="*/ 18288 w 18288"/>
              <a:gd name="connsiteY1" fmla="*/ 0 h 5590381"/>
              <a:gd name="connsiteX2" fmla="*/ 18288 w 18288"/>
              <a:gd name="connsiteY2" fmla="*/ 754701 h 5590381"/>
              <a:gd name="connsiteX3" fmla="*/ 18288 w 18288"/>
              <a:gd name="connsiteY3" fmla="*/ 1565307 h 5590381"/>
              <a:gd name="connsiteX4" fmla="*/ 18288 w 18288"/>
              <a:gd name="connsiteY4" fmla="*/ 2152297 h 5590381"/>
              <a:gd name="connsiteX5" fmla="*/ 18288 w 18288"/>
              <a:gd name="connsiteY5" fmla="*/ 2906998 h 5590381"/>
              <a:gd name="connsiteX6" fmla="*/ 18288 w 18288"/>
              <a:gd name="connsiteY6" fmla="*/ 3549892 h 5590381"/>
              <a:gd name="connsiteX7" fmla="*/ 18288 w 18288"/>
              <a:gd name="connsiteY7" fmla="*/ 4080978 h 5590381"/>
              <a:gd name="connsiteX8" fmla="*/ 18288 w 18288"/>
              <a:gd name="connsiteY8" fmla="*/ 4835680 h 5590381"/>
              <a:gd name="connsiteX9" fmla="*/ 18288 w 18288"/>
              <a:gd name="connsiteY9" fmla="*/ 5590381 h 5590381"/>
              <a:gd name="connsiteX10" fmla="*/ 0 w 18288"/>
              <a:gd name="connsiteY10" fmla="*/ 5590381 h 5590381"/>
              <a:gd name="connsiteX11" fmla="*/ 0 w 18288"/>
              <a:gd name="connsiteY11" fmla="*/ 4835680 h 5590381"/>
              <a:gd name="connsiteX12" fmla="*/ 0 w 18288"/>
              <a:gd name="connsiteY12" fmla="*/ 4304593 h 5590381"/>
              <a:gd name="connsiteX13" fmla="*/ 0 w 18288"/>
              <a:gd name="connsiteY13" fmla="*/ 3773507 h 5590381"/>
              <a:gd name="connsiteX14" fmla="*/ 0 w 18288"/>
              <a:gd name="connsiteY14" fmla="*/ 3186517 h 5590381"/>
              <a:gd name="connsiteX15" fmla="*/ 0 w 18288"/>
              <a:gd name="connsiteY15" fmla="*/ 2487720 h 5590381"/>
              <a:gd name="connsiteX16" fmla="*/ 0 w 18288"/>
              <a:gd name="connsiteY16" fmla="*/ 1956633 h 5590381"/>
              <a:gd name="connsiteX17" fmla="*/ 0 w 18288"/>
              <a:gd name="connsiteY17" fmla="*/ 1425547 h 5590381"/>
              <a:gd name="connsiteX18" fmla="*/ 0 w 18288"/>
              <a:gd name="connsiteY18" fmla="*/ 614942 h 5590381"/>
              <a:gd name="connsiteX19" fmla="*/ 0 w 18288"/>
              <a:gd name="connsiteY19" fmla="*/ 0 h 55903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Content Placeholder 16">
            <a:extLst>
              <a:ext uri="{FF2B5EF4-FFF2-40B4-BE49-F238E27FC236}">
                <a16:creationId xmlns:a16="http://schemas.microsoft.com/office/drawing/2014/main" id="{24E1F4A3-F6A6-D9FA-DCD7-2D268C992D6A}"/>
              </a:ext>
            </a:extLst>
          </p:cNvPr>
          <p:cNvPicPr>
            <a:picLocks noChangeAspect="1"/>
          </p:cNvPicPr>
          <p:nvPr/>
        </p:nvPicPr>
        <p:blipFill>
          <a:blip r:embed="rId2"/>
          <a:stretch>
            <a:fillRect/>
          </a:stretch>
        </p:blipFill>
        <p:spPr>
          <a:xfrm>
            <a:off x="4654296" y="812399"/>
            <a:ext cx="6894576" cy="3550706"/>
          </a:xfrm>
          <a:prstGeom prst="rect">
            <a:avLst/>
          </a:prstGeom>
        </p:spPr>
      </p:pic>
    </p:spTree>
    <p:extLst>
      <p:ext uri="{BB962C8B-B14F-4D97-AF65-F5344CB8AC3E}">
        <p14:creationId xmlns:p14="http://schemas.microsoft.com/office/powerpoint/2010/main" val="26994037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11F0CC-797C-3111-34E6-397733E1734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9D4336D-0A21-C20C-235A-4758ED203B8A}"/>
              </a:ext>
            </a:extLst>
          </p:cNvPr>
          <p:cNvSpPr>
            <a:spLocks noGrp="1"/>
          </p:cNvSpPr>
          <p:nvPr>
            <p:ph type="title"/>
          </p:nvPr>
        </p:nvSpPr>
        <p:spPr>
          <a:xfrm>
            <a:off x="640080" y="325369"/>
            <a:ext cx="4368602" cy="1956841"/>
          </a:xfrm>
        </p:spPr>
        <p:txBody>
          <a:bodyPr anchor="b">
            <a:normAutofit/>
          </a:bodyPr>
          <a:lstStyle/>
          <a:p>
            <a:r>
              <a:rPr lang="en-GB" sz="5400"/>
              <a:t>Evidence of Success</a:t>
            </a:r>
          </a:p>
        </p:txBody>
      </p:sp>
      <p:sp>
        <p:nvSpPr>
          <p:cNvPr id="12"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onnsiteX0" fmla="*/ 0 w 3474720"/>
              <a:gd name="connsiteY0" fmla="*/ 0 h 18288"/>
              <a:gd name="connsiteX1" fmla="*/ 694944 w 3474720"/>
              <a:gd name="connsiteY1" fmla="*/ 0 h 18288"/>
              <a:gd name="connsiteX2" fmla="*/ 1355141 w 3474720"/>
              <a:gd name="connsiteY2" fmla="*/ 0 h 18288"/>
              <a:gd name="connsiteX3" fmla="*/ 2015338 w 3474720"/>
              <a:gd name="connsiteY3" fmla="*/ 0 h 18288"/>
              <a:gd name="connsiteX4" fmla="*/ 2779776 w 3474720"/>
              <a:gd name="connsiteY4" fmla="*/ 0 h 18288"/>
              <a:gd name="connsiteX5" fmla="*/ 3474720 w 3474720"/>
              <a:gd name="connsiteY5" fmla="*/ 0 h 18288"/>
              <a:gd name="connsiteX6" fmla="*/ 3474720 w 3474720"/>
              <a:gd name="connsiteY6" fmla="*/ 18288 h 18288"/>
              <a:gd name="connsiteX7" fmla="*/ 2779776 w 3474720"/>
              <a:gd name="connsiteY7" fmla="*/ 18288 h 18288"/>
              <a:gd name="connsiteX8" fmla="*/ 2189074 w 3474720"/>
              <a:gd name="connsiteY8" fmla="*/ 18288 h 18288"/>
              <a:gd name="connsiteX9" fmla="*/ 1528877 w 3474720"/>
              <a:gd name="connsiteY9" fmla="*/ 18288 h 18288"/>
              <a:gd name="connsiteX10" fmla="*/ 868680 w 3474720"/>
              <a:gd name="connsiteY10" fmla="*/ 18288 h 18288"/>
              <a:gd name="connsiteX11" fmla="*/ 0 w 3474720"/>
              <a:gd name="connsiteY11" fmla="*/ 18288 h 18288"/>
              <a:gd name="connsiteX12" fmla="*/ 0 w 3474720"/>
              <a:gd name="connsiteY12"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59AE109B-887C-EA92-99A7-9226E35712F9}"/>
              </a:ext>
            </a:extLst>
          </p:cNvPr>
          <p:cNvSpPr>
            <a:spLocks noGrp="1"/>
          </p:cNvSpPr>
          <p:nvPr>
            <p:ph idx="1"/>
          </p:nvPr>
        </p:nvSpPr>
        <p:spPr>
          <a:xfrm>
            <a:off x="640080" y="2872899"/>
            <a:ext cx="4243589" cy="3320668"/>
          </a:xfrm>
        </p:spPr>
        <p:txBody>
          <a:bodyPr>
            <a:normAutofit/>
          </a:bodyPr>
          <a:lstStyle/>
          <a:p>
            <a:pPr>
              <a:buFontTx/>
              <a:buChar char="-"/>
            </a:pPr>
            <a:r>
              <a:rPr lang="en-GB" sz="2000"/>
              <a:t>All team member expressed their satisfaction with allocation during all sprint retrospectives, reviews and peer reviews.</a:t>
            </a:r>
          </a:p>
          <a:p>
            <a:pPr>
              <a:buFontTx/>
              <a:buChar char="-"/>
            </a:pPr>
            <a:r>
              <a:rPr lang="en-GB" sz="2000"/>
              <a:t>All User stories were completed on schedule including all non-technical DoD items like Documentation and Review</a:t>
            </a:r>
          </a:p>
          <a:p>
            <a:pPr>
              <a:buFontTx/>
              <a:buChar char="-"/>
            </a:pPr>
            <a:r>
              <a:rPr lang="en-GB" sz="2000"/>
              <a:t>Team scored high grades in both checkpoints and the overall check.</a:t>
            </a:r>
          </a:p>
          <a:p>
            <a:pPr>
              <a:buFontTx/>
              <a:buChar char="-"/>
            </a:pPr>
            <a:endParaRPr lang="en-GB" sz="2000"/>
          </a:p>
        </p:txBody>
      </p:sp>
      <p:pic>
        <p:nvPicPr>
          <p:cNvPr id="5" name="Picture 4" descr="People in boat illustration">
            <a:extLst>
              <a:ext uri="{FF2B5EF4-FFF2-40B4-BE49-F238E27FC236}">
                <a16:creationId xmlns:a16="http://schemas.microsoft.com/office/drawing/2014/main" id="{46EBE2FB-36AD-05EB-A537-08530BC2093F}"/>
              </a:ext>
            </a:extLst>
          </p:cNvPr>
          <p:cNvPicPr>
            <a:picLocks noChangeAspect="1"/>
          </p:cNvPicPr>
          <p:nvPr/>
        </p:nvPicPr>
        <p:blipFill>
          <a:blip r:embed="rId2">
            <a:extLst>
              <a:ext uri="{28A0092B-C50C-407E-A947-70E740481C1C}">
                <a14:useLocalDpi xmlns:a14="http://schemas.microsoft.com/office/drawing/2010/main" val="0"/>
              </a:ext>
            </a:extLst>
          </a:blip>
          <a:srcRect l="7369" r="24424" b="-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Tree>
    <p:extLst>
      <p:ext uri="{BB962C8B-B14F-4D97-AF65-F5344CB8AC3E}">
        <p14:creationId xmlns:p14="http://schemas.microsoft.com/office/powerpoint/2010/main" val="34935606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03E79E-9695-C3E1-B962-07CC05AD8208}"/>
              </a:ext>
            </a:extLst>
          </p:cNvPr>
          <p:cNvSpPr>
            <a:spLocks noGrp="1"/>
          </p:cNvSpPr>
          <p:nvPr>
            <p:ph type="ctrTitle"/>
          </p:nvPr>
        </p:nvSpPr>
        <p:spPr>
          <a:xfrm>
            <a:off x="1116106" y="1482777"/>
            <a:ext cx="9959788" cy="2387600"/>
          </a:xfrm>
        </p:spPr>
        <p:txBody>
          <a:bodyPr>
            <a:normAutofit fontScale="90000"/>
          </a:bodyPr>
          <a:lstStyle/>
          <a:p>
            <a:br>
              <a:rPr lang="en-GB" dirty="0"/>
            </a:br>
            <a:br>
              <a:rPr lang="en-GB" dirty="0"/>
            </a:br>
            <a:br>
              <a:rPr lang="en-GB" dirty="0"/>
            </a:br>
            <a:r>
              <a:rPr lang="en-GB" dirty="0"/>
              <a:t>Group Involvement in</a:t>
            </a:r>
            <a:br>
              <a:rPr lang="en-GB" dirty="0"/>
            </a:br>
            <a:r>
              <a:rPr lang="en-GB" dirty="0"/>
              <a:t>Scrum Events</a:t>
            </a:r>
          </a:p>
        </p:txBody>
      </p:sp>
      <p:sp>
        <p:nvSpPr>
          <p:cNvPr id="3" name="Subtitle 2">
            <a:extLst>
              <a:ext uri="{FF2B5EF4-FFF2-40B4-BE49-F238E27FC236}">
                <a16:creationId xmlns:a16="http://schemas.microsoft.com/office/drawing/2014/main" id="{B5610768-469D-E8BB-28F7-CA52B3AEC811}"/>
              </a:ext>
            </a:extLst>
          </p:cNvPr>
          <p:cNvSpPr>
            <a:spLocks noGrp="1"/>
          </p:cNvSpPr>
          <p:nvPr>
            <p:ph type="subTitle" idx="1"/>
          </p:nvPr>
        </p:nvSpPr>
        <p:spPr>
          <a:xfrm>
            <a:off x="1524000" y="4281862"/>
            <a:ext cx="9144000" cy="1655762"/>
          </a:xfrm>
        </p:spPr>
        <p:txBody>
          <a:bodyPr/>
          <a:lstStyle/>
          <a:p>
            <a:r>
              <a:rPr lang="en-GB" i="1" dirty="0"/>
              <a:t>Haydn Carter</a:t>
            </a:r>
          </a:p>
          <a:p>
            <a:r>
              <a:rPr lang="en-GB" i="1" dirty="0"/>
              <a:t>hjc26@student.le.ac.uk</a:t>
            </a:r>
          </a:p>
        </p:txBody>
      </p:sp>
      <p:pic>
        <p:nvPicPr>
          <p:cNvPr id="5" name="Picture 4">
            <a:extLst>
              <a:ext uri="{FF2B5EF4-FFF2-40B4-BE49-F238E27FC236}">
                <a16:creationId xmlns:a16="http://schemas.microsoft.com/office/drawing/2014/main" id="{3FF451FA-5436-ADFE-5C3E-95FB40CCD1F6}"/>
              </a:ext>
            </a:extLst>
          </p:cNvPr>
          <p:cNvPicPr>
            <a:picLocks noChangeAspect="1"/>
          </p:cNvPicPr>
          <p:nvPr/>
        </p:nvPicPr>
        <p:blipFill>
          <a:blip r:embed="rId3"/>
          <a:stretch>
            <a:fillRect/>
          </a:stretch>
        </p:blipFill>
        <p:spPr>
          <a:xfrm>
            <a:off x="1790442" y="541827"/>
            <a:ext cx="8611116" cy="1881900"/>
          </a:xfrm>
          <a:prstGeom prst="rect">
            <a:avLst/>
          </a:prstGeom>
        </p:spPr>
      </p:pic>
    </p:spTree>
    <p:extLst>
      <p:ext uri="{BB962C8B-B14F-4D97-AF65-F5344CB8AC3E}">
        <p14:creationId xmlns:p14="http://schemas.microsoft.com/office/powerpoint/2010/main" val="215347320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6E6185-8DA5-C7E4-ABC6-ADF8901D525A}"/>
              </a:ext>
            </a:extLst>
          </p:cNvPr>
          <p:cNvSpPr>
            <a:spLocks noGrp="1"/>
          </p:cNvSpPr>
          <p:nvPr>
            <p:ph type="title"/>
          </p:nvPr>
        </p:nvSpPr>
        <p:spPr/>
        <p:txBody>
          <a:bodyPr/>
          <a:lstStyle/>
          <a:p>
            <a:r>
              <a:rPr lang="en-US" dirty="0"/>
              <a:t>Scrum Events</a:t>
            </a:r>
          </a:p>
        </p:txBody>
      </p:sp>
      <p:sp>
        <p:nvSpPr>
          <p:cNvPr id="3" name="Content Placeholder 2">
            <a:extLst>
              <a:ext uri="{FF2B5EF4-FFF2-40B4-BE49-F238E27FC236}">
                <a16:creationId xmlns:a16="http://schemas.microsoft.com/office/drawing/2014/main" id="{52D7F116-25B9-A481-4A47-A2F9E2D528B8}"/>
              </a:ext>
            </a:extLst>
          </p:cNvPr>
          <p:cNvSpPr>
            <a:spLocks noGrp="1"/>
          </p:cNvSpPr>
          <p:nvPr>
            <p:ph idx="1"/>
          </p:nvPr>
        </p:nvSpPr>
        <p:spPr/>
        <p:txBody>
          <a:bodyPr/>
          <a:lstStyle/>
          <a:p>
            <a:r>
              <a:rPr lang="en-US" dirty="0"/>
              <a:t>Sprint</a:t>
            </a:r>
          </a:p>
          <a:p>
            <a:r>
              <a:rPr lang="en-US" dirty="0"/>
              <a:t>Sprint Planning</a:t>
            </a:r>
          </a:p>
          <a:p>
            <a:r>
              <a:rPr lang="en-US" b="1" dirty="0">
                <a:solidFill>
                  <a:srgbClr val="C00000"/>
                </a:solidFill>
              </a:rPr>
              <a:t>Standup meeting</a:t>
            </a:r>
          </a:p>
          <a:p>
            <a:r>
              <a:rPr lang="en-US" dirty="0"/>
              <a:t>Sprint Review</a:t>
            </a:r>
          </a:p>
          <a:p>
            <a:r>
              <a:rPr lang="en-US" dirty="0"/>
              <a:t>Sprint Retrospective</a:t>
            </a:r>
          </a:p>
        </p:txBody>
      </p:sp>
    </p:spTree>
    <p:extLst>
      <p:ext uri="{BB962C8B-B14F-4D97-AF65-F5344CB8AC3E}">
        <p14:creationId xmlns:p14="http://schemas.microsoft.com/office/powerpoint/2010/main" val="27821520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4A93EF-9FA3-B73C-0069-38E4CA025536}"/>
              </a:ext>
            </a:extLst>
          </p:cNvPr>
          <p:cNvSpPr>
            <a:spLocks noGrp="1"/>
          </p:cNvSpPr>
          <p:nvPr>
            <p:ph type="title"/>
          </p:nvPr>
        </p:nvSpPr>
        <p:spPr/>
        <p:txBody>
          <a:bodyPr/>
          <a:lstStyle/>
          <a:p>
            <a:r>
              <a:rPr lang="en-US" dirty="0"/>
              <a:t>Standup Meetings</a:t>
            </a:r>
            <a:r>
              <a:rPr lang="en-GB" dirty="0"/>
              <a:t> – Format</a:t>
            </a:r>
            <a:endParaRPr lang="en-US" dirty="0"/>
          </a:p>
        </p:txBody>
      </p:sp>
      <p:pic>
        <p:nvPicPr>
          <p:cNvPr id="5" name="Content Placeholder 4" descr="Stopwatch on white background">
            <a:extLst>
              <a:ext uri="{FF2B5EF4-FFF2-40B4-BE49-F238E27FC236}">
                <a16:creationId xmlns:a16="http://schemas.microsoft.com/office/drawing/2014/main" id="{B4482B12-3047-F638-E16C-088E164FFDE0}"/>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1325110" y="1579776"/>
            <a:ext cx="1628915" cy="1978830"/>
          </a:xfrm>
        </p:spPr>
      </p:pic>
      <p:sp>
        <p:nvSpPr>
          <p:cNvPr id="6" name="Content Placeholder 2">
            <a:extLst>
              <a:ext uri="{FF2B5EF4-FFF2-40B4-BE49-F238E27FC236}">
                <a16:creationId xmlns:a16="http://schemas.microsoft.com/office/drawing/2014/main" id="{AAA9455C-BAAD-B451-D33C-5B90F377716D}"/>
              </a:ext>
            </a:extLst>
          </p:cNvPr>
          <p:cNvSpPr txBox="1">
            <a:spLocks/>
          </p:cNvSpPr>
          <p:nvPr/>
        </p:nvSpPr>
        <p:spPr>
          <a:xfrm>
            <a:off x="2954025" y="2262498"/>
            <a:ext cx="7544235" cy="838765"/>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Twice a week, with a hard limit of 15 minutes for the entire meeting.</a:t>
            </a:r>
          </a:p>
        </p:txBody>
      </p:sp>
      <p:graphicFrame>
        <p:nvGraphicFramePr>
          <p:cNvPr id="9" name="Content Placeholder 2">
            <a:extLst>
              <a:ext uri="{FF2B5EF4-FFF2-40B4-BE49-F238E27FC236}">
                <a16:creationId xmlns:a16="http://schemas.microsoft.com/office/drawing/2014/main" id="{6324D492-E67D-432B-1424-ECCE8951FFA6}"/>
              </a:ext>
            </a:extLst>
          </p:cNvPr>
          <p:cNvGraphicFramePr/>
          <p:nvPr/>
        </p:nvGraphicFramePr>
        <p:xfrm>
          <a:off x="838200" y="3673073"/>
          <a:ext cx="7544235" cy="2673136"/>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extLst>
      <p:ext uri="{BB962C8B-B14F-4D97-AF65-F5344CB8AC3E}">
        <p14:creationId xmlns:p14="http://schemas.microsoft.com/office/powerpoint/2010/main" val="15064886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6D1A2CED-DA9B-4CCF-8215-CFC65FE7160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9" name="Rectangle 18">
            <a:extLst>
              <a:ext uri="{FF2B5EF4-FFF2-40B4-BE49-F238E27FC236}">
                <a16:creationId xmlns:a16="http://schemas.microsoft.com/office/drawing/2014/main" id="{562DFC44-A40C-4573-9230-B3EDB3EC8E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260019"/>
            <a:ext cx="11167447" cy="5933012"/>
          </a:xfrm>
          <a:prstGeom prst="rect">
            <a:avLst/>
          </a:prstGeom>
          <a:ln w="12700">
            <a:solidFill>
              <a:srgbClr val="DEDEDE"/>
            </a:solidFill>
          </a:ln>
          <a:effectLst>
            <a:outerShdw blurRad="50800" dist="38100" dir="2700000" algn="tl" rotWithShape="0">
              <a:schemeClr val="bg2">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7F4A93EF-9FA3-B73C-0069-38E4CA025536}"/>
              </a:ext>
            </a:extLst>
          </p:cNvPr>
          <p:cNvSpPr>
            <a:spLocks noGrp="1"/>
          </p:cNvSpPr>
          <p:nvPr>
            <p:ph type="title"/>
          </p:nvPr>
        </p:nvSpPr>
        <p:spPr>
          <a:xfrm>
            <a:off x="1115568" y="509521"/>
            <a:ext cx="10232136" cy="1014984"/>
          </a:xfrm>
        </p:spPr>
        <p:txBody>
          <a:bodyPr>
            <a:normAutofit/>
          </a:bodyPr>
          <a:lstStyle/>
          <a:p>
            <a:r>
              <a:rPr lang="en-US" sz="4000" dirty="0"/>
              <a:t>Standup Meetings </a:t>
            </a:r>
            <a:r>
              <a:rPr lang="en-GB" sz="4000" dirty="0"/>
              <a:t>– Results</a:t>
            </a:r>
            <a:endParaRPr lang="en-US" sz="4000" dirty="0"/>
          </a:p>
        </p:txBody>
      </p:sp>
      <p:sp>
        <p:nvSpPr>
          <p:cNvPr id="21" name="Rectangle 20">
            <a:extLst>
              <a:ext uri="{FF2B5EF4-FFF2-40B4-BE49-F238E27FC236}">
                <a16:creationId xmlns:a16="http://schemas.microsoft.com/office/drawing/2014/main" id="{15589D35-CF9F-4DE9-A792-8571A09E9B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658327"/>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6" name="Content Placeholder 3">
            <a:extLst>
              <a:ext uri="{FF2B5EF4-FFF2-40B4-BE49-F238E27FC236}">
                <a16:creationId xmlns:a16="http://schemas.microsoft.com/office/drawing/2014/main" id="{F2DD7D1B-3DCA-2428-8C34-B092B1AB458A}"/>
              </a:ext>
            </a:extLst>
          </p:cNvPr>
          <p:cNvGraphicFramePr>
            <a:graphicFrameLocks noGrp="1"/>
          </p:cNvGraphicFramePr>
          <p:nvPr>
            <p:ph idx="1"/>
          </p:nvPr>
        </p:nvGraphicFramePr>
        <p:xfrm>
          <a:off x="1115568" y="1673352"/>
          <a:ext cx="10232136" cy="4334256"/>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34336055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4DE9C7-3826-431D-3F2B-C34B9D1BB529}"/>
              </a:ext>
            </a:extLst>
          </p:cNvPr>
          <p:cNvSpPr>
            <a:spLocks noGrp="1"/>
          </p:cNvSpPr>
          <p:nvPr>
            <p:ph type="ctrTitle"/>
          </p:nvPr>
        </p:nvSpPr>
        <p:spPr>
          <a:xfrm>
            <a:off x="1524000" y="2031432"/>
            <a:ext cx="9144000" cy="1561419"/>
          </a:xfrm>
        </p:spPr>
        <p:txBody>
          <a:bodyPr>
            <a:normAutofit fontScale="90000"/>
          </a:bodyPr>
          <a:lstStyle/>
          <a:p>
            <a:br>
              <a:rPr lang="en-US" sz="6000" dirty="0">
                <a:latin typeface="Arial" pitchFamily="34"/>
              </a:rPr>
            </a:br>
            <a:r>
              <a:rPr lang="en-US" sz="6000" dirty="0">
                <a:latin typeface="Arial" pitchFamily="34"/>
              </a:rPr>
              <a:t>Realistic plans to take this project onwards</a:t>
            </a:r>
            <a:endParaRPr lang="en-GB" dirty="0"/>
          </a:p>
        </p:txBody>
      </p:sp>
      <p:sp>
        <p:nvSpPr>
          <p:cNvPr id="3" name="Subtitle 2">
            <a:extLst>
              <a:ext uri="{FF2B5EF4-FFF2-40B4-BE49-F238E27FC236}">
                <a16:creationId xmlns:a16="http://schemas.microsoft.com/office/drawing/2014/main" id="{42EE6D84-3A78-C019-6928-44D191CACC86}"/>
              </a:ext>
            </a:extLst>
          </p:cNvPr>
          <p:cNvSpPr>
            <a:spLocks noGrp="1"/>
          </p:cNvSpPr>
          <p:nvPr>
            <p:ph type="subTitle" idx="1"/>
          </p:nvPr>
        </p:nvSpPr>
        <p:spPr>
          <a:xfrm>
            <a:off x="1524000" y="3786527"/>
            <a:ext cx="9144000" cy="1655762"/>
          </a:xfrm>
        </p:spPr>
        <p:txBody>
          <a:bodyPr/>
          <a:lstStyle/>
          <a:p>
            <a:r>
              <a:rPr lang="en-GB" sz="2400" b="0" i="1" u="none" strike="noStrike" kern="1200" cap="none" spc="0" baseline="0" dirty="0">
                <a:solidFill>
                  <a:srgbClr val="000000"/>
                </a:solidFill>
                <a:uFillTx/>
                <a:latin typeface="Trebuchet MS"/>
              </a:rPr>
              <a:t>Maximillian Charles Edwards</a:t>
            </a:r>
          </a:p>
          <a:p>
            <a:r>
              <a:rPr lang="en-GB" i="1" dirty="0">
                <a:solidFill>
                  <a:srgbClr val="000000"/>
                </a:solidFill>
                <a:latin typeface="Trebuchet MS"/>
              </a:rPr>
              <a:t>me245@student.le.ac.uk</a:t>
            </a:r>
            <a:endParaRPr lang="en-GB" i="1" dirty="0"/>
          </a:p>
        </p:txBody>
      </p:sp>
      <p:pic>
        <p:nvPicPr>
          <p:cNvPr id="4" name="Picture 3">
            <a:extLst>
              <a:ext uri="{FF2B5EF4-FFF2-40B4-BE49-F238E27FC236}">
                <a16:creationId xmlns:a16="http://schemas.microsoft.com/office/drawing/2014/main" id="{BD82B0C4-3045-1755-C3F1-585F6EE78E1A}"/>
              </a:ext>
            </a:extLst>
          </p:cNvPr>
          <p:cNvPicPr>
            <a:picLocks noChangeAspect="1"/>
          </p:cNvPicPr>
          <p:nvPr/>
        </p:nvPicPr>
        <p:blipFill>
          <a:blip r:embed="rId2"/>
          <a:stretch>
            <a:fillRect/>
          </a:stretch>
        </p:blipFill>
        <p:spPr>
          <a:xfrm>
            <a:off x="1790442" y="52468"/>
            <a:ext cx="8611116" cy="1881900"/>
          </a:xfrm>
          <a:prstGeom prst="rect">
            <a:avLst/>
          </a:prstGeom>
        </p:spPr>
      </p:pic>
    </p:spTree>
    <p:extLst>
      <p:ext uri="{BB962C8B-B14F-4D97-AF65-F5344CB8AC3E}">
        <p14:creationId xmlns:p14="http://schemas.microsoft.com/office/powerpoint/2010/main" val="17922763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88ADEF-7467-9DBB-727A-87D150E7421D}"/>
              </a:ext>
            </a:extLst>
          </p:cNvPr>
          <p:cNvSpPr>
            <a:spLocks noGrp="1"/>
          </p:cNvSpPr>
          <p:nvPr>
            <p:ph type="title"/>
          </p:nvPr>
        </p:nvSpPr>
        <p:spPr/>
        <p:txBody>
          <a:bodyPr>
            <a:normAutofit fontScale="90000"/>
          </a:bodyPr>
          <a:lstStyle/>
          <a:p>
            <a:br>
              <a:rPr lang="en-GB" sz="4400" b="0" i="0" u="none" strike="noStrike" kern="1200" cap="none" spc="0" baseline="0" dirty="0">
                <a:solidFill>
                  <a:srgbClr val="000000"/>
                </a:solidFill>
                <a:uFillTx/>
                <a:latin typeface="Trebuchet MS"/>
              </a:rPr>
            </a:br>
            <a:r>
              <a:rPr lang="en-GB" sz="4400" b="0" i="0" u="none" strike="noStrike" kern="1200" cap="none" spc="0" baseline="0" dirty="0">
                <a:solidFill>
                  <a:srgbClr val="000000"/>
                </a:solidFill>
                <a:uFillTx/>
                <a:latin typeface="Trebuchet MS"/>
              </a:rPr>
              <a:t>What are potential areas that we could expand upon?</a:t>
            </a:r>
            <a:br>
              <a:rPr lang="en-GB" sz="4400" b="0" i="0" u="none" strike="noStrike" kern="1200" cap="none" spc="0" baseline="0" dirty="0">
                <a:solidFill>
                  <a:srgbClr val="000000"/>
                </a:solidFill>
                <a:uFillTx/>
                <a:latin typeface="Trebuchet MS"/>
              </a:rPr>
            </a:br>
            <a:endParaRPr lang="en-GB" dirty="0"/>
          </a:p>
        </p:txBody>
      </p:sp>
      <p:sp>
        <p:nvSpPr>
          <p:cNvPr id="3" name="Content Placeholder 2">
            <a:extLst>
              <a:ext uri="{FF2B5EF4-FFF2-40B4-BE49-F238E27FC236}">
                <a16:creationId xmlns:a16="http://schemas.microsoft.com/office/drawing/2014/main" id="{3062F6E7-3D88-1B64-F1E0-161390C22AD9}"/>
              </a:ext>
            </a:extLst>
          </p:cNvPr>
          <p:cNvSpPr>
            <a:spLocks noGrp="1"/>
          </p:cNvSpPr>
          <p:nvPr>
            <p:ph idx="1"/>
          </p:nvPr>
        </p:nvSpPr>
        <p:spPr/>
        <p:txBody>
          <a:bodyPr>
            <a:normAutofit/>
          </a:bodyPr>
          <a:lstStyle/>
          <a:p>
            <a:pPr marL="0" marR="0" lvl="0" indent="0" algn="l" defTabSz="457200" rtl="0" fontAlgn="auto" hangingPunct="1">
              <a:lnSpc>
                <a:spcPct val="100000"/>
              </a:lnSpc>
              <a:spcBef>
                <a:spcPts val="0"/>
              </a:spcBef>
              <a:spcAft>
                <a:spcPts val="0"/>
              </a:spcAft>
              <a:buSzPct val="100000"/>
              <a:buNone/>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285750" marR="0" lvl="0" indent="-28575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Review system</a:t>
            </a:r>
          </a:p>
          <a:p>
            <a:pPr marL="285750" marR="0" lvl="0" indent="-28575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285750" marR="0" lvl="0" indent="-28575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Avatar system</a:t>
            </a:r>
          </a:p>
          <a:p>
            <a:pPr marL="285750" marR="0" lvl="0" indent="-28575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285750" marR="0" lvl="0" indent="-28575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A completion system of the subjects</a:t>
            </a:r>
          </a:p>
          <a:p>
            <a:endParaRPr lang="en-GB" dirty="0"/>
          </a:p>
        </p:txBody>
      </p:sp>
    </p:spTree>
    <p:extLst>
      <p:ext uri="{BB962C8B-B14F-4D97-AF65-F5344CB8AC3E}">
        <p14:creationId xmlns:p14="http://schemas.microsoft.com/office/powerpoint/2010/main" val="26262757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6125B9-8A00-B5AE-6C8C-294F932B527E}"/>
              </a:ext>
            </a:extLst>
          </p:cNvPr>
          <p:cNvSpPr>
            <a:spLocks noGrp="1"/>
          </p:cNvSpPr>
          <p:nvPr>
            <p:ph type="title"/>
          </p:nvPr>
        </p:nvSpPr>
        <p:spPr/>
        <p:txBody>
          <a:bodyPr>
            <a:normAutofit fontScale="90000"/>
          </a:bodyPr>
          <a:lstStyle/>
          <a:p>
            <a:br>
              <a:rPr lang="en-GB" sz="4400" b="0" i="0" u="none" strike="noStrike" kern="1200" cap="none" spc="0" baseline="0" dirty="0">
                <a:solidFill>
                  <a:srgbClr val="000000"/>
                </a:solidFill>
                <a:uFillTx/>
                <a:latin typeface="Trebuchet MS"/>
              </a:rPr>
            </a:br>
            <a:r>
              <a:rPr lang="en-GB" sz="4400" b="0" i="0" u="none" strike="noStrike" kern="1200" cap="none" spc="0" baseline="0" dirty="0">
                <a:solidFill>
                  <a:srgbClr val="000000"/>
                </a:solidFill>
                <a:uFillTx/>
                <a:latin typeface="Trebuchet MS"/>
              </a:rPr>
              <a:t>How to expand upon the Review System?</a:t>
            </a:r>
            <a:br>
              <a:rPr lang="en-GB" sz="4400" b="0" i="0" u="none" strike="noStrike" kern="1200" cap="none" spc="0" baseline="0" dirty="0">
                <a:solidFill>
                  <a:srgbClr val="000000"/>
                </a:solidFill>
                <a:uFillTx/>
                <a:latin typeface="Trebuchet MS"/>
              </a:rPr>
            </a:br>
            <a:endParaRPr lang="en-GB" dirty="0"/>
          </a:p>
        </p:txBody>
      </p:sp>
      <p:sp>
        <p:nvSpPr>
          <p:cNvPr id="3" name="Content Placeholder 2">
            <a:extLst>
              <a:ext uri="{FF2B5EF4-FFF2-40B4-BE49-F238E27FC236}">
                <a16:creationId xmlns:a16="http://schemas.microsoft.com/office/drawing/2014/main" id="{5D1BCB2D-A6B0-3138-92FD-2B4BE3F898CA}"/>
              </a:ext>
            </a:extLst>
          </p:cNvPr>
          <p:cNvSpPr>
            <a:spLocks noGrp="1"/>
          </p:cNvSpPr>
          <p:nvPr>
            <p:ph idx="1"/>
          </p:nvPr>
        </p:nvSpPr>
        <p:spPr/>
        <p:txBody>
          <a:bodyPr>
            <a:normAutofit fontScale="92500" lnSpcReduction="10000"/>
          </a:bodyPr>
          <a:lstStyle/>
          <a:p>
            <a:pPr marL="0" marR="0" lvl="0" indent="0" algn="l" defTabSz="4572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Could be a review history.</a:t>
            </a: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Include a star system instead of a number system.</a:t>
            </a: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We could include the date of the review.</a:t>
            </a: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2800" b="0" i="0" u="none" strike="noStrike" kern="1200" cap="none" spc="0" baseline="0" dirty="0">
              <a:solidFill>
                <a:srgbClr val="000000"/>
              </a:solidFill>
              <a:uFillTx/>
              <a:latin typeface="Trebuchet MS"/>
            </a:endParaRPr>
          </a:p>
          <a:p>
            <a:pPr marL="342900" marR="0" lvl="0" indent="-342900" algn="l" defTabSz="457200" rtl="0" fontAlgn="auto" hangingPunct="1">
              <a:lnSpc>
                <a:spcPct val="100000"/>
              </a:lnSpc>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800" b="0" i="0" u="none" strike="noStrike" kern="1200" cap="none" spc="0" baseline="0" dirty="0">
                <a:solidFill>
                  <a:srgbClr val="000000"/>
                </a:solidFill>
                <a:uFillTx/>
                <a:latin typeface="Trebuchet MS"/>
              </a:rPr>
              <a:t>Allow there to be a report button.</a:t>
            </a:r>
          </a:p>
          <a:p>
            <a:endParaRPr lang="en-GB" dirty="0"/>
          </a:p>
        </p:txBody>
      </p:sp>
    </p:spTree>
    <p:extLst>
      <p:ext uri="{BB962C8B-B14F-4D97-AF65-F5344CB8AC3E}">
        <p14:creationId xmlns:p14="http://schemas.microsoft.com/office/powerpoint/2010/main" val="14398841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5" name="Rectangle 54">
            <a:extLst>
              <a:ext uri="{FF2B5EF4-FFF2-40B4-BE49-F238E27FC236}">
                <a16:creationId xmlns:a16="http://schemas.microsoft.com/office/drawing/2014/main" id="{352BEC0E-22F8-46D0-9632-375DB541B06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2660F9-8564-D594-A16A-1855A341FF5A}"/>
              </a:ext>
            </a:extLst>
          </p:cNvPr>
          <p:cNvSpPr>
            <a:spLocks noGrp="1"/>
          </p:cNvSpPr>
          <p:nvPr>
            <p:ph type="title"/>
          </p:nvPr>
        </p:nvSpPr>
        <p:spPr>
          <a:xfrm>
            <a:off x="640080" y="329184"/>
            <a:ext cx="6894576" cy="1783080"/>
          </a:xfrm>
        </p:spPr>
        <p:txBody>
          <a:bodyPr anchor="b">
            <a:normAutofit/>
          </a:bodyPr>
          <a:lstStyle/>
          <a:p>
            <a:r>
              <a:rPr lang="en-GB" sz="3000" b="0" i="0" u="none" strike="noStrike" kern="1200" cap="none" spc="0" baseline="0">
                <a:uFillTx/>
                <a:latin typeface="Trebuchet MS"/>
              </a:rPr>
              <a:t>How could we improve upon the asserting if a subject is completed?</a:t>
            </a:r>
            <a:br>
              <a:rPr lang="en-GB" sz="3000" b="0" i="0" u="none" strike="noStrike" kern="1200" cap="none" spc="0" baseline="0">
                <a:uFillTx/>
                <a:latin typeface="Trebuchet MS"/>
              </a:rPr>
            </a:br>
            <a:endParaRPr lang="en-GB" sz="3000"/>
          </a:p>
        </p:txBody>
      </p:sp>
      <p:sp>
        <p:nvSpPr>
          <p:cNvPr id="57" name="sketch line">
            <a:extLst>
              <a:ext uri="{FF2B5EF4-FFF2-40B4-BE49-F238E27FC236}">
                <a16:creationId xmlns:a16="http://schemas.microsoft.com/office/drawing/2014/main" id="{3FCFB1DE-0B7E-48CC-BA90-B2AB0889F9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8952" y="2395728"/>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00BF019C-D707-836B-F707-367488CBA38A}"/>
              </a:ext>
            </a:extLst>
          </p:cNvPr>
          <p:cNvSpPr>
            <a:spLocks noGrp="1"/>
          </p:cNvSpPr>
          <p:nvPr>
            <p:ph idx="1"/>
          </p:nvPr>
        </p:nvSpPr>
        <p:spPr>
          <a:xfrm>
            <a:off x="640080" y="2706624"/>
            <a:ext cx="5208022" cy="3483864"/>
          </a:xfrm>
        </p:spPr>
        <p:txBody>
          <a:bodyPr>
            <a:normAutofit/>
          </a:bodyPr>
          <a:lstStyle/>
          <a:p>
            <a:pPr marL="0" marR="0" lvl="0" indent="0" defTabSz="457200" rtl="0" fontAlgn="auto" hangingPunct="1">
              <a:spcBef>
                <a:spcPts val="0"/>
              </a:spcBef>
              <a:spcAft>
                <a:spcPts val="0"/>
              </a:spcAft>
              <a:buNone/>
              <a:tabLst/>
              <a:defRPr sz="1800" b="0" i="0" u="none" strike="noStrike" kern="0" cap="none" spc="0" baseline="0">
                <a:solidFill>
                  <a:srgbClr val="000000"/>
                </a:solidFill>
                <a:uFillTx/>
              </a:defRPr>
            </a:pPr>
            <a:endParaRPr lang="en-GB" sz="1700" b="0" i="0" u="none" strike="noStrike" kern="1200" cap="none" spc="0" baseline="0" dirty="0">
              <a:uFillTx/>
              <a:latin typeface="Trebuchet MS"/>
            </a:endParaRPr>
          </a:p>
          <a:p>
            <a:pPr marL="285750" marR="0" lvl="0" indent="-28575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1700" b="0" i="0" u="none" strike="noStrike" kern="1200" cap="none" spc="0" baseline="0" dirty="0">
                <a:uFillTx/>
                <a:latin typeface="Trebuchet MS"/>
              </a:rPr>
              <a:t>We could have a random data set of unique quizzes after clicking course completed?</a:t>
            </a:r>
          </a:p>
          <a:p>
            <a:pPr marL="0" marR="0" lvl="0" indent="0" defTabSz="457200" rtl="0" fontAlgn="auto" hangingPunct="1">
              <a:spcBef>
                <a:spcPts val="0"/>
              </a:spcBef>
              <a:spcAft>
                <a:spcPts val="0"/>
              </a:spcAft>
              <a:buNone/>
              <a:tabLst/>
              <a:defRPr sz="1800" b="0" i="0" u="none" strike="noStrike" kern="0" cap="none" spc="0" baseline="0">
                <a:solidFill>
                  <a:srgbClr val="000000"/>
                </a:solidFill>
                <a:uFillTx/>
              </a:defRPr>
            </a:pPr>
            <a:endParaRPr lang="en-GB" sz="1700" b="0" i="0" u="none" strike="noStrike" kern="1200" cap="none" spc="0" baseline="0" dirty="0">
              <a:uFillTx/>
              <a:latin typeface="Trebuchet MS"/>
            </a:endParaRPr>
          </a:p>
          <a:p>
            <a:pPr marL="0" marR="0" lvl="0" indent="0" defTabSz="457200" rtl="0" fontAlgn="auto" hangingPunct="1">
              <a:spcBef>
                <a:spcPts val="0"/>
              </a:spcBef>
              <a:spcAft>
                <a:spcPts val="0"/>
              </a:spcAft>
              <a:buNone/>
              <a:tabLst/>
              <a:defRPr sz="1800" b="0" i="0" u="none" strike="noStrike" kern="0" cap="none" spc="0" baseline="0">
                <a:solidFill>
                  <a:srgbClr val="000000"/>
                </a:solidFill>
                <a:uFillTx/>
              </a:defRPr>
            </a:pPr>
            <a:endParaRPr lang="en-GB" sz="1700" b="0" i="0" u="none" strike="noStrike" kern="1200" cap="none" spc="0" baseline="0" dirty="0">
              <a:uFillTx/>
              <a:latin typeface="Trebuchet MS"/>
            </a:endParaRPr>
          </a:p>
          <a:p>
            <a:pPr marL="285750" marR="0" lvl="0" indent="-28575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1700" b="0" i="0" u="none" strike="noStrike" kern="1200" cap="none" spc="0" baseline="0" dirty="0">
                <a:uFillTx/>
                <a:latin typeface="Trebuchet MS"/>
              </a:rPr>
              <a:t>Perhaps colour code the courses based on if they are in progress or completed?</a:t>
            </a:r>
          </a:p>
          <a:p>
            <a:pPr marL="285750" marR="0" lvl="0" indent="-28575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1700" b="0" i="0" u="none" strike="noStrike" kern="1200" cap="none" spc="0" baseline="0" dirty="0">
              <a:uFillTx/>
              <a:latin typeface="Trebuchet MS"/>
            </a:endParaRPr>
          </a:p>
          <a:p>
            <a:pPr marL="285750" marR="0" lvl="0" indent="-28575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1700" b="0" i="0" u="none" strike="noStrike" kern="1200" cap="none" spc="0" baseline="0" dirty="0">
              <a:uFillTx/>
              <a:latin typeface="Trebuchet MS"/>
            </a:endParaRPr>
          </a:p>
          <a:p>
            <a:pPr marL="285750" marR="0" lvl="0" indent="-28575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endParaRPr lang="en-GB" sz="1700" b="0" i="0" u="none" strike="noStrike" kern="1200" cap="none" spc="0" baseline="0" dirty="0">
              <a:uFillTx/>
              <a:latin typeface="Trebuchet MS"/>
            </a:endParaRPr>
          </a:p>
          <a:p>
            <a:pPr marL="285750" marR="0" lvl="0" indent="-28575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1700" b="0" i="0" u="none" strike="noStrike" kern="1200" cap="none" spc="0" baseline="0" dirty="0">
                <a:uFillTx/>
                <a:latin typeface="Trebuchet MS"/>
              </a:rPr>
              <a:t>Perhaps we also have a list on which courses that the user has completed and is currently in progress of doing.</a:t>
            </a:r>
          </a:p>
          <a:p>
            <a:endParaRPr lang="en-GB" sz="1700" dirty="0"/>
          </a:p>
        </p:txBody>
      </p:sp>
      <p:pic>
        <p:nvPicPr>
          <p:cNvPr id="5" name="Picture 4">
            <a:extLst>
              <a:ext uri="{FF2B5EF4-FFF2-40B4-BE49-F238E27FC236}">
                <a16:creationId xmlns:a16="http://schemas.microsoft.com/office/drawing/2014/main" id="{616597E7-8156-04D2-8777-97A20215D3C7}"/>
              </a:ext>
            </a:extLst>
          </p:cNvPr>
          <p:cNvPicPr>
            <a:picLocks noChangeAspect="1"/>
          </p:cNvPicPr>
          <p:nvPr/>
        </p:nvPicPr>
        <p:blipFill>
          <a:blip r:embed="rId2"/>
          <a:stretch>
            <a:fillRect/>
          </a:stretch>
        </p:blipFill>
        <p:spPr>
          <a:xfrm>
            <a:off x="8174736" y="509209"/>
            <a:ext cx="2351176" cy="2938971"/>
          </a:xfrm>
          <a:prstGeom prst="rect">
            <a:avLst/>
          </a:prstGeom>
          <a:noFill/>
        </p:spPr>
      </p:pic>
      <p:pic>
        <p:nvPicPr>
          <p:cNvPr id="4" name="Picture 3">
            <a:extLst>
              <a:ext uri="{FF2B5EF4-FFF2-40B4-BE49-F238E27FC236}">
                <a16:creationId xmlns:a16="http://schemas.microsoft.com/office/drawing/2014/main" id="{10BF3AAB-A80A-345E-CA0F-EFADBB387732}"/>
              </a:ext>
            </a:extLst>
          </p:cNvPr>
          <p:cNvPicPr>
            <a:picLocks noChangeAspect="1"/>
          </p:cNvPicPr>
          <p:nvPr/>
        </p:nvPicPr>
        <p:blipFill>
          <a:blip r:embed="rId3"/>
          <a:stretch>
            <a:fillRect/>
          </a:stretch>
        </p:blipFill>
        <p:spPr>
          <a:xfrm>
            <a:off x="5905413" y="3879779"/>
            <a:ext cx="6226228" cy="1918856"/>
          </a:xfrm>
          <a:prstGeom prst="rect">
            <a:avLst/>
          </a:prstGeom>
          <a:noFill/>
        </p:spPr>
      </p:pic>
    </p:spTree>
    <p:extLst>
      <p:ext uri="{BB962C8B-B14F-4D97-AF65-F5344CB8AC3E}">
        <p14:creationId xmlns:p14="http://schemas.microsoft.com/office/powerpoint/2010/main" val="32429018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94A3DE0-FB11-2A33-40C4-57145A6F55B7}"/>
              </a:ext>
            </a:extLst>
          </p:cNvPr>
          <p:cNvSpPr>
            <a:spLocks noGrp="1"/>
          </p:cNvSpPr>
          <p:nvPr>
            <p:ph type="title"/>
          </p:nvPr>
        </p:nvSpPr>
        <p:spPr>
          <a:xfrm>
            <a:off x="630936" y="639520"/>
            <a:ext cx="3429000" cy="1719072"/>
          </a:xfrm>
        </p:spPr>
        <p:txBody>
          <a:bodyPr anchor="b">
            <a:normAutofit/>
          </a:bodyPr>
          <a:lstStyle/>
          <a:p>
            <a:r>
              <a:rPr lang="en-GB" sz="2600" b="0" i="0" u="none" strike="noStrike" kern="1200" cap="none" spc="0" baseline="0">
                <a:uFillTx/>
                <a:latin typeface="Trebuchet MS"/>
              </a:rPr>
              <a:t>How could we improve upon the avatar system?</a:t>
            </a:r>
            <a:br>
              <a:rPr lang="en-GB" sz="2600" b="0" i="0" u="none" strike="noStrike" kern="1200" cap="none" spc="0" baseline="0">
                <a:uFillTx/>
                <a:latin typeface="Trebuchet MS"/>
              </a:rPr>
            </a:br>
            <a:endParaRPr lang="en-GB" sz="2600"/>
          </a:p>
        </p:txBody>
      </p:sp>
      <p:sp>
        <p:nvSpPr>
          <p:cNvPr id="11"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24B6C4F-A545-35F8-2704-ECE40B524760}"/>
              </a:ext>
            </a:extLst>
          </p:cNvPr>
          <p:cNvSpPr>
            <a:spLocks noGrp="1"/>
          </p:cNvSpPr>
          <p:nvPr>
            <p:ph idx="1"/>
          </p:nvPr>
        </p:nvSpPr>
        <p:spPr>
          <a:xfrm>
            <a:off x="630936" y="2807208"/>
            <a:ext cx="3429000" cy="3410712"/>
          </a:xfrm>
        </p:spPr>
        <p:txBody>
          <a:bodyPr anchor="t">
            <a:normAutofit/>
          </a:bodyPr>
          <a:lstStyle/>
          <a:p>
            <a:pPr marL="342900" marR="0" lvl="0" indent="-34290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200" b="0" i="0" u="none" strike="noStrike" kern="1200" cap="none" spc="0" baseline="0">
                <a:uFillTx/>
                <a:latin typeface="Trebuchet MS"/>
              </a:rPr>
              <a:t>Include more additional avatars for users to choose from</a:t>
            </a:r>
          </a:p>
          <a:p>
            <a:pPr marL="0" marR="0" lvl="0" indent="0" defTabSz="457200" rtl="0" fontAlgn="auto" hangingPunct="1">
              <a:spcBef>
                <a:spcPts val="0"/>
              </a:spcBef>
              <a:spcAft>
                <a:spcPts val="0"/>
              </a:spcAft>
              <a:buSzPct val="100000"/>
              <a:buNone/>
              <a:tabLst/>
              <a:defRPr sz="1800" b="0" i="0" u="none" strike="noStrike" kern="0" cap="none" spc="0" baseline="0">
                <a:solidFill>
                  <a:srgbClr val="000000"/>
                </a:solidFill>
                <a:uFillTx/>
              </a:defRPr>
            </a:pPr>
            <a:endParaRPr lang="en-GB" sz="2200" b="0" i="0" u="none" strike="noStrike" kern="1200" cap="none" spc="0" baseline="0">
              <a:uFillTx/>
              <a:latin typeface="Trebuchet MS"/>
            </a:endParaRPr>
          </a:p>
          <a:p>
            <a:pPr marL="342900" marR="0" lvl="0" indent="-342900" defTabSz="457200" rtl="0" fontAlgn="auto" hangingPunct="1">
              <a:spcBef>
                <a:spcPts val="0"/>
              </a:spcBef>
              <a:spcAft>
                <a:spcPts val="0"/>
              </a:spcAft>
              <a:buSzPct val="100000"/>
              <a:buFont typeface="Wingdings" pitchFamily="2"/>
              <a:buChar char="§"/>
              <a:tabLst/>
              <a:defRPr sz="1800" b="0" i="0" u="none" strike="noStrike" kern="0" cap="none" spc="0" baseline="0">
                <a:solidFill>
                  <a:srgbClr val="000000"/>
                </a:solidFill>
                <a:uFillTx/>
              </a:defRPr>
            </a:pPr>
            <a:r>
              <a:rPr lang="en-GB" sz="2200" b="0" i="0" u="none" strike="noStrike" kern="1200" cap="none" spc="0" baseline="0">
                <a:uFillTx/>
                <a:latin typeface="Trebuchet MS"/>
              </a:rPr>
              <a:t> Add a wider diversity of cosmetics for users to choose from to customise avatars</a:t>
            </a:r>
          </a:p>
          <a:p>
            <a:endParaRPr lang="en-GB" sz="2200"/>
          </a:p>
        </p:txBody>
      </p:sp>
      <p:pic>
        <p:nvPicPr>
          <p:cNvPr id="4" name="Picture 3">
            <a:extLst>
              <a:ext uri="{FF2B5EF4-FFF2-40B4-BE49-F238E27FC236}">
                <a16:creationId xmlns:a16="http://schemas.microsoft.com/office/drawing/2014/main" id="{4ED627BE-AF58-FB17-BD47-2096385E35CB}"/>
              </a:ext>
            </a:extLst>
          </p:cNvPr>
          <p:cNvPicPr>
            <a:picLocks noChangeAspect="1"/>
          </p:cNvPicPr>
          <p:nvPr/>
        </p:nvPicPr>
        <p:blipFill>
          <a:blip r:embed="rId2"/>
          <a:stretch>
            <a:fillRect/>
          </a:stretch>
        </p:blipFill>
        <p:spPr>
          <a:xfrm>
            <a:off x="4654296" y="1841145"/>
            <a:ext cx="6903720" cy="3175710"/>
          </a:xfrm>
          <a:prstGeom prst="rect">
            <a:avLst/>
          </a:prstGeom>
          <a:noFill/>
        </p:spPr>
      </p:pic>
    </p:spTree>
    <p:extLst>
      <p:ext uri="{BB962C8B-B14F-4D97-AF65-F5344CB8AC3E}">
        <p14:creationId xmlns:p14="http://schemas.microsoft.com/office/powerpoint/2010/main" val="111446624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1090</Words>
  <Application>Microsoft Macintosh PowerPoint</Application>
  <PresentationFormat>Widescreen</PresentationFormat>
  <Paragraphs>142</Paragraphs>
  <Slides>27</Slides>
  <Notes>4</Notes>
  <HiddenSlides>0</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27</vt:i4>
      </vt:variant>
    </vt:vector>
  </HeadingPairs>
  <TitlesOfParts>
    <vt:vector size="36" baseType="lpstr">
      <vt:lpstr>Aptos</vt:lpstr>
      <vt:lpstr>Aptos Display</vt:lpstr>
      <vt:lpstr>Arial</vt:lpstr>
      <vt:lpstr>Calibri</vt:lpstr>
      <vt:lpstr>Calibri Light</vt:lpstr>
      <vt:lpstr>Trebuchet MS</vt:lpstr>
      <vt:lpstr>Wingdings</vt:lpstr>
      <vt:lpstr>Office Theme</vt:lpstr>
      <vt:lpstr>Office Theme</vt:lpstr>
      <vt:lpstr>   Overview of the project purpose</vt:lpstr>
      <vt:lpstr>Project Background</vt:lpstr>
      <vt:lpstr>The problem we want to solve…</vt:lpstr>
      <vt:lpstr>The solution!</vt:lpstr>
      <vt:lpstr>Purpose: Personal Learning goals</vt:lpstr>
      <vt:lpstr>Purpose: Leaderboard </vt:lpstr>
      <vt:lpstr>Purpose:  Credits and Avatars</vt:lpstr>
      <vt:lpstr>Impact on Students</vt:lpstr>
      <vt:lpstr>Software Architecture of IBM SkillsBuild Gamification</vt:lpstr>
      <vt:lpstr>What we considered when choosing the technology to use</vt:lpstr>
      <vt:lpstr>Backend: Spring and MySQL</vt:lpstr>
      <vt:lpstr>Front End: JSP, JS, CSS</vt:lpstr>
      <vt:lpstr>Improvements that could have been made in the Software Architecture</vt:lpstr>
      <vt:lpstr>Task Allocation</vt:lpstr>
      <vt:lpstr>How was it done?</vt:lpstr>
      <vt:lpstr>How was it done?</vt:lpstr>
      <vt:lpstr>Evidence of Allocation</vt:lpstr>
      <vt:lpstr>Evidence of Success</vt:lpstr>
      <vt:lpstr>   Group Involvement in Scrum Events</vt:lpstr>
      <vt:lpstr>Scrum Events</vt:lpstr>
      <vt:lpstr>Standup Meetings – Format</vt:lpstr>
      <vt:lpstr>Standup Meetings – Results</vt:lpstr>
      <vt:lpstr> Realistic plans to take this project onwards</vt:lpstr>
      <vt:lpstr> What are potential areas that we could expand upon? </vt:lpstr>
      <vt:lpstr> How to expand upon the Review System? </vt:lpstr>
      <vt:lpstr>How could we improve upon the asserting if a subject is completed? </vt:lpstr>
      <vt:lpstr>How could we improve upon the avatar system?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King, John</dc:creator>
  <cp:lastModifiedBy>Carter, Haydn J.</cp:lastModifiedBy>
  <cp:revision>5</cp:revision>
  <dcterms:created xsi:type="dcterms:W3CDTF">2025-05-01T11:23:29Z</dcterms:created>
  <dcterms:modified xsi:type="dcterms:W3CDTF">2025-05-01T14:24:27Z</dcterms:modified>
</cp:coreProperties>
</file>